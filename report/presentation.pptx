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1675"/>
  <p:notesSz cx="6858000" cy="9144000"/>
  <p:embeddedFontLs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Matteo Gastaldell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8.xml"/><Relationship Id="rId36" Type="http://schemas.openxmlformats.org/officeDocument/2006/relationships/font" Target="fonts/RobotoMon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1T10:20:23.861">
    <p:pos x="6000" y="0"/>
    <p:text>immagine da sostituire con immagini in https://github.com/LLMProjectPolito/LLMProject/tree/main/scratch/02_best_combos/plots</p:text>
  </p:cm>
  <p:cm authorId="0" idx="2" dt="2026-06-11T10:20:23.861">
    <p:pos x="6000" y="0"/>
    <p:text>valutare di unire 8 e 9, mettendo l'immagine dell'efficienza in questa. valutiamo di rimuovere top3 o altre informazioni omettibili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11T10:28:39.247">
    <p:pos x="6000" y="0"/>
    <p:text>19-22 mettere qualche commento forse più sensato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f2ae53457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f2ae53457_0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82a90ef9f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82a90ef9f_0_6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82a90ef9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82a90ef9f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56908bfa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56908bfae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56908bfae_0_3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56908bfae_0_37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56908bfae_0_3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56908bfae_0_3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d98df7723_1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d98df7723_1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d98df7723_1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d98df7723_1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d98df7723_1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d98df7723_1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d98df7723_1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d98df7723_10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befcdd987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dbefcdd987_0_8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befcdd987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dbefcdd987_0_8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befcdd987_0_11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770993c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e770993ca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195cdcbd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195cdcbd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af2debc6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eaf2debc62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dbefcdd9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dbefcdd98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195cdcbd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f195cdcbda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befcdd987_75_0)">
  <p:cSld name="Generated (g3dbefcdd987_75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35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2.xml"/><Relationship Id="rId4" Type="http://schemas.openxmlformats.org/officeDocument/2006/relationships/image" Target="../media/image35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6720840"/>
            <a:ext cx="121917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571500"/>
            <a:ext cx="1524000" cy="138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4"/>
          <p:cNvGrpSpPr/>
          <p:nvPr/>
        </p:nvGrpSpPr>
        <p:grpSpPr>
          <a:xfrm>
            <a:off x="762000" y="2286000"/>
            <a:ext cx="10668000" cy="952500"/>
            <a:chOff x="762000" y="2286000"/>
            <a:chExt cx="10668000" cy="952500"/>
          </a:xfrm>
        </p:grpSpPr>
        <p:sp>
          <p:nvSpPr>
            <p:cNvPr id="88" name="Google Shape;88;p14"/>
            <p:cNvSpPr/>
            <p:nvPr/>
          </p:nvSpPr>
          <p:spPr>
            <a:xfrm>
              <a:off x="762000" y="2286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762000" y="2286000"/>
              <a:ext cx="1066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Pure-Gemma Evolution Matrix</a:t>
              </a:r>
              <a:endParaRPr b="1" sz="5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90" name="Google Shape;90;p14"/>
          <p:cNvSpPr/>
          <p:nvPr/>
        </p:nvSpPr>
        <p:spPr>
          <a:xfrm>
            <a:off x="4667250" y="3429000"/>
            <a:ext cx="2857500" cy="28500"/>
          </a:xfrm>
          <a:prstGeom prst="rect">
            <a:avLst/>
          </a:prstGeom>
          <a:solidFill>
            <a:srgbClr val="A88B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14"/>
          <p:cNvGrpSpPr/>
          <p:nvPr/>
        </p:nvGrpSpPr>
        <p:grpSpPr>
          <a:xfrm>
            <a:off x="762000" y="3667125"/>
            <a:ext cx="10668000" cy="381000"/>
            <a:chOff x="762000" y="3667125"/>
            <a:chExt cx="10668000" cy="381000"/>
          </a:xfrm>
        </p:grpSpPr>
        <p:sp>
          <p:nvSpPr>
            <p:cNvPr id="92" name="Google Shape;92;p14"/>
            <p:cNvSpPr/>
            <p:nvPr/>
          </p:nvSpPr>
          <p:spPr>
            <a:xfrm>
              <a:off x="762000" y="3667125"/>
              <a:ext cx="1066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762000" y="3667125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Agentic Workflows for Python Test Generation</a:t>
              </a:r>
              <a:endParaRPr i="1" sz="2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762000" y="4476750"/>
            <a:ext cx="10668000" cy="1333500"/>
            <a:chOff x="762000" y="4476750"/>
            <a:chExt cx="10668000" cy="1333500"/>
          </a:xfrm>
        </p:grpSpPr>
        <p:sp>
          <p:nvSpPr>
            <p:cNvPr id="95" name="Google Shape;95;p14"/>
            <p:cNvSpPr/>
            <p:nvPr/>
          </p:nvSpPr>
          <p:spPr>
            <a:xfrm>
              <a:off x="762000" y="4476750"/>
              <a:ext cx="10668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762000" y="4476750"/>
              <a:ext cx="10668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Politecnico di Torino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Cambria"/>
                  <a:ea typeface="Cambria"/>
                  <a:cs typeface="Cambria"/>
                  <a:sym typeface="Cambria"/>
                </a:rPr>
                <a:t>Johnprice Osagie · Deniz Eren Gencay · Matteo Gastaldello · Erestina Vreto</a:t>
              </a:r>
              <a:endParaRPr sz="1300">
                <a:solidFill>
                  <a:srgbClr val="47556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rPr>
                <a:t>Large Language Models for Software Engineering (2025 / 2026)</a:t>
              </a:r>
              <a:endParaRPr i="1" sz="12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5"/>
          <p:cNvGrpSpPr/>
          <p:nvPr/>
        </p:nvGrpSpPr>
        <p:grpSpPr>
          <a:xfrm>
            <a:off x="1780051" y="1408576"/>
            <a:ext cx="3758400" cy="4572000"/>
            <a:chOff x="1780051" y="1408576"/>
            <a:chExt cx="3758400" cy="4572000"/>
          </a:xfrm>
        </p:grpSpPr>
        <p:sp>
          <p:nvSpPr>
            <p:cNvPr id="102" name="Google Shape;102;p15"/>
            <p:cNvSpPr/>
            <p:nvPr/>
          </p:nvSpPr>
          <p:spPr>
            <a:xfrm>
              <a:off x="1780051" y="1408576"/>
              <a:ext cx="3758400" cy="4572000"/>
            </a:xfrm>
            <a:prstGeom prst="roundRect">
              <a:avLst>
                <a:gd fmla="val 3332" name="adj"/>
              </a:avLst>
            </a:prstGeom>
            <a:solidFill>
              <a:srgbClr val="002B5C">
                <a:alpha val="2999"/>
              </a:srgbClr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780051" y="1408576"/>
              <a:ext cx="3758400" cy="76200"/>
            </a:xfrm>
            <a:prstGeom prst="roundRect">
              <a:avLst>
                <a:gd fmla="val 50000" name="adj"/>
              </a:avLst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6586271" y="1400004"/>
            <a:ext cx="3758400" cy="4572000"/>
            <a:chOff x="6586271" y="1400004"/>
            <a:chExt cx="3758400" cy="4572000"/>
          </a:xfrm>
        </p:grpSpPr>
        <p:sp>
          <p:nvSpPr>
            <p:cNvPr id="105" name="Google Shape;105;p15"/>
            <p:cNvSpPr/>
            <p:nvPr/>
          </p:nvSpPr>
          <p:spPr>
            <a:xfrm>
              <a:off x="6586271" y="1400004"/>
              <a:ext cx="3758400" cy="4572000"/>
            </a:xfrm>
            <a:prstGeom prst="roundRect">
              <a:avLst>
                <a:gd fmla="val 3332" name="adj"/>
              </a:avLst>
            </a:prstGeom>
            <a:solidFill>
              <a:srgbClr val="A88B4C">
                <a:alpha val="2999"/>
              </a:srgbClr>
            </a:solidFill>
            <a:ln cap="flat" cmpd="sng" w="9525">
              <a:solidFill>
                <a:srgbClr val="A88B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586271" y="1400004"/>
              <a:ext cx="3758400" cy="76200"/>
            </a:xfrm>
            <a:prstGeom prst="roundRect">
              <a:avLst>
                <a:gd fmla="val 50000" name="adj"/>
              </a:avLst>
            </a:prstGeom>
            <a:solidFill>
              <a:srgbClr val="A88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5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Tech Stack 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2 —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115" name="Google Shape;115;p15"/>
          <p:cNvGrpSpPr/>
          <p:nvPr/>
        </p:nvGrpSpPr>
        <p:grpSpPr>
          <a:xfrm>
            <a:off x="1780051" y="1408576"/>
            <a:ext cx="3758400" cy="4572000"/>
            <a:chOff x="784826" y="1348739"/>
            <a:chExt cx="3758400" cy="4572000"/>
          </a:xfrm>
        </p:grpSpPr>
        <p:sp>
          <p:nvSpPr>
            <p:cNvPr id="116" name="Google Shape;116;p15"/>
            <p:cNvSpPr/>
            <p:nvPr/>
          </p:nvSpPr>
          <p:spPr>
            <a:xfrm>
              <a:off x="784826" y="1348739"/>
              <a:ext cx="3758400" cy="4572000"/>
            </a:xfrm>
            <a:prstGeom prst="roundRect">
              <a:avLst>
                <a:gd fmla="val 3331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1140023" y="1644804"/>
              <a:ext cx="3048000" cy="419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Architecture</a:t>
              </a:r>
              <a:endParaRPr b="1" sz="20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Orchestration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Cambria"/>
                  <a:ea typeface="Cambria"/>
                  <a:cs typeface="Cambria"/>
                  <a:sym typeface="Cambria"/>
                </a:rPr>
                <a:t>LangGraph: Stateful multi-agent workflows and complex logic routing.</a:t>
              </a:r>
              <a:endParaRPr b="0" sz="1050">
                <a:solidFill>
                  <a:srgbClr val="47556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LLM Backend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200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Cambria"/>
                  <a:ea typeface="Cambria"/>
                  <a:cs typeface="Cambria"/>
                  <a:sym typeface="Cambria"/>
                </a:rPr>
                <a:t>Google Vertex AI / AI Studio: Testing across Gemma family (1B to 31B parameters).</a:t>
              </a:r>
              <a:endParaRPr b="0" sz="1050">
                <a:solidFill>
                  <a:srgbClr val="475569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18" name="Google Shape;118;p15"/>
          <p:cNvSpPr txBox="1"/>
          <p:nvPr/>
        </p:nvSpPr>
        <p:spPr>
          <a:xfrm>
            <a:off x="6941477" y="1644825"/>
            <a:ext cx="30480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Execution &amp; Data</a:t>
            </a:r>
            <a:endParaRPr b="1" sz="20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Execution</a:t>
            </a:r>
            <a:endParaRPr b="1" sz="14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Cambria"/>
                <a:ea typeface="Cambria"/>
                <a:cs typeface="Cambria"/>
                <a:sym typeface="Cambria"/>
              </a:rPr>
              <a:t>Custom Instrumentation: AST parsing &amp; sys.settrace for fine-grained tracking.</a:t>
            </a:r>
            <a:endParaRPr b="0" sz="1050">
              <a:solidFill>
                <a:srgbClr val="47556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Cambria"/>
                <a:ea typeface="Cambria"/>
                <a:cs typeface="Cambria"/>
                <a:sym typeface="Cambria"/>
              </a:rPr>
              <a:t>Multi-process isolation with hardware kill-switches.</a:t>
            </a:r>
            <a:endParaRPr b="0" sz="1050">
              <a:solidFill>
                <a:srgbClr val="47556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Data Engineering</a:t>
            </a:r>
            <a:endParaRPr b="1" sz="14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Cambria"/>
                <a:ea typeface="Cambria"/>
                <a:cs typeface="Cambria"/>
                <a:sym typeface="Cambria"/>
              </a:rPr>
              <a:t>Results Pipeline: 265-row matrix using pandas across 8 models, 11 architectures, and 4 strategies.</a:t>
            </a:r>
            <a:endParaRPr b="0" sz="1050">
              <a:solidFill>
                <a:srgbClr val="47556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Dataset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132" name="Google Shape;132;p16"/>
          <p:cNvGrpSpPr/>
          <p:nvPr/>
        </p:nvGrpSpPr>
        <p:grpSpPr>
          <a:xfrm>
            <a:off x="457200" y="1333500"/>
            <a:ext cx="5486400" cy="2381400"/>
            <a:chOff x="457200" y="1333500"/>
            <a:chExt cx="5486400" cy="2381400"/>
          </a:xfrm>
        </p:grpSpPr>
        <p:sp>
          <p:nvSpPr>
            <p:cNvPr id="133" name="Google Shape;133;p16"/>
            <p:cNvSpPr/>
            <p:nvPr/>
          </p:nvSpPr>
          <p:spPr>
            <a:xfrm>
              <a:off x="457200" y="1333500"/>
              <a:ext cx="54864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457200" y="1333500"/>
              <a:ext cx="5486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The "Hardest" Logic Subset</a:t>
              </a:r>
              <a:endParaRPr b="1" sz="18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Targeting Pure Reasoning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Cambria"/>
                  <a:ea typeface="Cambria"/>
                  <a:cs typeface="Cambria"/>
                  <a:sym typeface="Cambria"/>
                </a:rPr>
                <a:t>Isolated a 25-task subset from HumanEval consisting of purely algorithmic challenges (no I/O, no network calls).</a:t>
              </a:r>
              <a:endParaRPr b="0" sz="1050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The Final Range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Cambria"/>
                  <a:ea typeface="Cambria"/>
                  <a:cs typeface="Cambria"/>
                  <a:sym typeface="Cambria"/>
                </a:rPr>
                <a:t>Selected tasks 139 to 163, representing the most mathematically and logically complex problems in the dataset.</a:t>
              </a:r>
              <a:endParaRPr b="0" sz="1050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6248400" y="1333500"/>
            <a:ext cx="5486400" cy="2381400"/>
            <a:chOff x="6248400" y="1333500"/>
            <a:chExt cx="5486400" cy="2381400"/>
          </a:xfrm>
        </p:grpSpPr>
        <p:sp>
          <p:nvSpPr>
            <p:cNvPr id="136" name="Google Shape;136;p16"/>
            <p:cNvSpPr/>
            <p:nvPr/>
          </p:nvSpPr>
          <p:spPr>
            <a:xfrm>
              <a:off x="6248400" y="1333500"/>
              <a:ext cx="5486400" cy="23814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6248400" y="1333500"/>
              <a:ext cx="5486400" cy="238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Why EvalPlus (Breaking Memorization)</a:t>
              </a:r>
              <a:endParaRPr b="1" i="0" sz="18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Beyond Standard Tests</a:t>
              </a:r>
              <a:endParaRPr b="1" i="0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050">
                  <a:solidFill>
                    <a:srgbClr val="64748B"/>
                  </a:solidFill>
                  <a:latin typeface="Cambria"/>
                  <a:ea typeface="Cambria"/>
                  <a:cs typeface="Cambria"/>
                  <a:sym typeface="Cambria"/>
                </a:rPr>
                <a:t>Vanilla HumanEval only has ~7 simple tests. LLMs often "memorize" these standard solutions. EvalPlus is an evolution of HumanEval.</a:t>
              </a:r>
              <a:endParaRPr b="0" i="0" sz="1050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Massive Amplification</a:t>
              </a:r>
              <a:endParaRPr b="1" i="0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050">
                  <a:solidFill>
                    <a:srgbClr val="64748B"/>
                  </a:solidFill>
                  <a:latin typeface="Cambria"/>
                  <a:ea typeface="Cambria"/>
                  <a:cs typeface="Cambria"/>
                  <a:sym typeface="Cambria"/>
                </a:rPr>
                <a:t>EvalPlus augments this with ~80× more test cases per task.</a:t>
              </a:r>
              <a:endParaRPr b="0" i="0" sz="1050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457200" y="3905250"/>
            <a:ext cx="5486400" cy="2190900"/>
            <a:chOff x="457200" y="3905250"/>
            <a:chExt cx="5486400" cy="2190900"/>
          </a:xfrm>
        </p:grpSpPr>
        <p:sp>
          <p:nvSpPr>
            <p:cNvPr id="139" name="Google Shape;139;p16"/>
            <p:cNvSpPr/>
            <p:nvPr/>
          </p:nvSpPr>
          <p:spPr>
            <a:xfrm>
              <a:off x="457200" y="3905250"/>
              <a:ext cx="5486400" cy="2190900"/>
            </a:xfrm>
            <a:prstGeom prst="roundRect">
              <a:avLst>
                <a:gd fmla="val 5216" name="adj"/>
              </a:avLst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457200" y="3905250"/>
              <a:ext cx="54864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A88B4C"/>
                  </a:solidFill>
                  <a:latin typeface="Cambria"/>
                  <a:ea typeface="Cambria"/>
                  <a:cs typeface="Cambria"/>
                  <a:sym typeface="Cambria"/>
                </a:rPr>
                <a:t>HumanEval/140 — fix_spaces(text)</a:t>
              </a:r>
              <a:endParaRPr b="1" i="0" sz="12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Goal:</a:t>
              </a:r>
              <a:r>
                <a:rPr b="0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Replace single spaces with '_' and groups of &gt;2 spaces with '-'.</a:t>
              </a:r>
              <a:endParaRPr b="1" i="0" sz="10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-US" sz="950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rPr>
                <a:t># Examples:</a:t>
              </a:r>
              <a:endParaRPr b="1" i="0" sz="95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"Example 1" -&gt; "Example_1"</a:t>
              </a:r>
              <a:endParaRPr b="1" i="0" sz="10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b="0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" Example 3" -&gt; "_Example-3"</a:t>
              </a:r>
              <a:endParaRPr b="1" i="0" sz="10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6248400" y="3905250"/>
            <a:ext cx="5486400" cy="2190900"/>
            <a:chOff x="6248400" y="3905250"/>
            <a:chExt cx="5486400" cy="2190900"/>
          </a:xfrm>
        </p:grpSpPr>
        <p:sp>
          <p:nvSpPr>
            <p:cNvPr id="142" name="Google Shape;142;p16"/>
            <p:cNvSpPr/>
            <p:nvPr/>
          </p:nvSpPr>
          <p:spPr>
            <a:xfrm>
              <a:off x="6248400" y="3905250"/>
              <a:ext cx="5486400" cy="2190900"/>
            </a:xfrm>
            <a:prstGeom prst="roundRect">
              <a:avLst>
                <a:gd fmla="val 5216" name="adj"/>
              </a:avLst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6248400" y="3905250"/>
              <a:ext cx="54864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A88B4C"/>
                  </a:solidFill>
                  <a:latin typeface="Cambria"/>
                  <a:ea typeface="Cambria"/>
                  <a:cs typeface="Cambria"/>
                  <a:sym typeface="Cambria"/>
                </a:rPr>
                <a:t>HumanEval/143 — words_in_sentence(s)</a:t>
              </a:r>
              <a:endParaRPr b="1" i="0" sz="12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Goal:</a:t>
              </a:r>
              <a:r>
                <a:rPr b="0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Return only words whose length is a prime number.</a:t>
              </a:r>
              <a:endParaRPr b="1" i="0" sz="10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-US" sz="950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rPr>
                <a:t># Examples:</a:t>
              </a:r>
              <a:endParaRPr b="1" i="0" sz="95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"This is a test" -&gt; "is"</a:t>
              </a:r>
              <a:endParaRPr b="1" i="0" sz="10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b="0" i="0" lang="en-US" sz="1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"lets go for swimming" -&gt; "go for"</a:t>
              </a:r>
              <a:endParaRPr b="1" i="0" sz="1000">
                <a:solidFill>
                  <a:srgbClr val="A88B4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Prompting Techniques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17"/>
          <p:cNvGrpSpPr/>
          <p:nvPr/>
        </p:nvGrpSpPr>
        <p:grpSpPr>
          <a:xfrm>
            <a:off x="457200" y="1238250"/>
            <a:ext cx="5486400" cy="4953000"/>
            <a:chOff x="457200" y="1238250"/>
            <a:chExt cx="5486400" cy="4953000"/>
          </a:xfrm>
        </p:grpSpPr>
        <p:sp>
          <p:nvSpPr>
            <p:cNvPr id="156" name="Google Shape;156;p17"/>
            <p:cNvSpPr/>
            <p:nvPr/>
          </p:nvSpPr>
          <p:spPr>
            <a:xfrm>
              <a:off x="457200" y="1238250"/>
              <a:ext cx="5486400" cy="4953000"/>
            </a:xfrm>
            <a:prstGeom prst="roundRect">
              <a:avLst>
                <a:gd fmla="val 2307" name="adj"/>
              </a:avLst>
            </a:prstGeom>
            <a:solidFill>
              <a:srgbClr val="002B5C">
                <a:alpha val="2999"/>
              </a:srgbClr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457200" y="1238250"/>
              <a:ext cx="5486400" cy="57300"/>
            </a:xfrm>
            <a:prstGeom prst="roundRect">
              <a:avLst>
                <a:gd fmla="val 50000" name="adj"/>
              </a:avLst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647700" y="1476375"/>
              <a:ext cx="51054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Experimental Setup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Strategies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Zero-shot: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Plain task description, no example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Few-shot: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2 solved HumanEval examples as priming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CoT: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Chain-of-Thought — "Let's think step by step"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SCoT: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Structured CoT — reasoning → plan → code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Implementation &amp; Goals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Routed via </a:t>
              </a:r>
              <a:r>
                <a:rPr lang="en-US" sz="100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apply_reasoning_style()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in </a:t>
              </a:r>
              <a:r>
                <a:rPr lang="en-US" sz="100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prompts.py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Goal: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Isolate prompting impact vs. agent architecture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Key Findings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4B: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Few-shot dominates performance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27B / 4-31B: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CoT provides significant boost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12B: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Hurt by CoT — verbose but inaccurate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6248400" y="1238250"/>
            <a:ext cx="5486400" cy="4953000"/>
            <a:chOff x="6248400" y="1238250"/>
            <a:chExt cx="5486400" cy="4953000"/>
          </a:xfrm>
        </p:grpSpPr>
        <p:sp>
          <p:nvSpPr>
            <p:cNvPr id="160" name="Google Shape;160;p17"/>
            <p:cNvSpPr/>
            <p:nvPr/>
          </p:nvSpPr>
          <p:spPr>
            <a:xfrm>
              <a:off x="6248400" y="1238250"/>
              <a:ext cx="5486400" cy="4953000"/>
            </a:xfrm>
            <a:prstGeom prst="roundRect">
              <a:avLst>
                <a:gd fmla="val 2307" name="adj"/>
              </a:avLst>
            </a:prstGeom>
            <a:solidFill>
              <a:srgbClr val="A88B4C">
                <a:alpha val="2999"/>
              </a:srgbClr>
            </a:solidFill>
            <a:ln cap="flat" cmpd="sng" w="9525">
              <a:solidFill>
                <a:srgbClr val="A88B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6248400" y="1238250"/>
              <a:ext cx="5486400" cy="57300"/>
            </a:xfrm>
            <a:prstGeom prst="roundRect">
              <a:avLst>
                <a:gd fmla="val 50000" name="adj"/>
              </a:avLst>
            </a:prstGeom>
            <a:solidFill>
              <a:srgbClr val="A88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6438900" y="1476375"/>
              <a:ext cx="51054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Observations &amp; Constraints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Parameters &amp; Output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4B: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Cleanest code blocks, lowest parser error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27B+: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Prose preamble requiring regex stripping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Temp: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0.2 (Deterministic) vs 0.7 (Swarm diversity)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Tokens: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1024 max (Sufficient for HumanEval)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Experimental Control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Standardized system prompt for multi-agent fairness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Ablation: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Prompt change alone → 0.30 PR delta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Identified Risks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Few-shot: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Risk of example leakage/over-fitting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CoT: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Risk of hallucinated reasoning justifications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Prompting ≠ replacement for agent feedback loops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63" name="Google Shape;163;p17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DI TORINO</a:t>
            </a:r>
            <a:endParaRPr b="1" sz="11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· Group Project</a:t>
            </a:r>
            <a:endParaRPr b="0" i="1" sz="9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Agents Overview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 b="0" i="1" sz="10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57200" y="4329999"/>
            <a:ext cx="112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Pseudocode — main feature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179" name="Google Shape;179;p18"/>
          <p:cNvGrpSpPr/>
          <p:nvPr/>
        </p:nvGrpSpPr>
        <p:grpSpPr>
          <a:xfrm>
            <a:off x="457200" y="1387498"/>
            <a:ext cx="11239500" cy="2160727"/>
            <a:chOff x="457200" y="1143000"/>
            <a:chExt cx="11239500" cy="3048000"/>
          </a:xfrm>
        </p:grpSpPr>
        <p:sp>
          <p:nvSpPr>
            <p:cNvPr id="180" name="Google Shape;180;p18"/>
            <p:cNvSpPr/>
            <p:nvPr/>
          </p:nvSpPr>
          <p:spPr>
            <a:xfrm>
              <a:off x="457200" y="114300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457200" y="114300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Baseline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Single LLM call without iterative loops. Used as the Control Condition.</a:t>
              </a:r>
              <a:endParaRPr sz="105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2743200" y="114300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2743200" y="114300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Generation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Specialized patterns for code synthesis.</a:t>
              </a:r>
              <a:b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</a:br>
              <a:b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</a:br>
              <a:r>
                <a:rPr b="1"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Agents</a:t>
              </a:r>
              <a:r>
                <a:rPr b="1"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:</a:t>
              </a: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 Swarm, Atomic Swarm, CoA, SOA.</a:t>
              </a:r>
              <a:endParaRPr sz="105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5029200" y="114300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5029200" y="114300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Validation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Quality gates and error correction.</a:t>
              </a:r>
              <a:b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</a:br>
              <a:b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</a:br>
              <a:r>
                <a:rPr b="1"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Agents:</a:t>
              </a: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 Consensus, Self-Healing, Actor-Critic.</a:t>
              </a:r>
              <a:endParaRPr sz="105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7315200" y="114300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7315200" y="114300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Adversarial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Competitive debugging and edge-case discovery.</a:t>
              </a:r>
              <a:b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</a:br>
              <a:b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</a:br>
              <a:r>
                <a:rPr b="1"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Agents</a:t>
              </a:r>
              <a:r>
                <a:rPr b="1"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:</a:t>
              </a: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 Adversarial, Competitive.</a:t>
              </a:r>
              <a:endParaRPr sz="105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9601200" y="114300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9601200" y="114300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Hybrid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Integrated pipelines combining generative reasoning with automated validation.</a:t>
              </a:r>
              <a:endParaRPr sz="105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90" name="Google Shape;190;p18"/>
          <p:cNvGrpSpPr/>
          <p:nvPr/>
        </p:nvGrpSpPr>
        <p:grpSpPr>
          <a:xfrm>
            <a:off x="457200" y="4004407"/>
            <a:ext cx="11239500" cy="1940210"/>
            <a:chOff x="457200" y="4381500"/>
            <a:chExt cx="11239500" cy="1830905"/>
          </a:xfrm>
        </p:grpSpPr>
        <p:sp>
          <p:nvSpPr>
            <p:cNvPr id="191" name="Google Shape;191;p18"/>
            <p:cNvSpPr/>
            <p:nvPr/>
          </p:nvSpPr>
          <p:spPr>
            <a:xfrm>
              <a:off x="457200" y="4381500"/>
              <a:ext cx="5524500" cy="1809600"/>
            </a:xfrm>
            <a:prstGeom prst="roundRect">
              <a:avLst>
                <a:gd fmla="val 4210" name="adj"/>
              </a:avLst>
            </a:prstGeom>
            <a:solidFill>
              <a:srgbClr val="F0F4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457200" y="4381505"/>
              <a:ext cx="5524500" cy="1830900"/>
            </a:xfrm>
            <a:prstGeom prst="rect">
              <a:avLst/>
            </a:pr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System Framework</a:t>
              </a:r>
              <a:endParaRPr b="1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22222"/>
                </a:buClr>
                <a:buSzPts val="1000"/>
                <a:buFont typeface="Cambria"/>
                <a:buChar char="●"/>
              </a:pPr>
              <a:r>
                <a:rPr lang="en-US" sz="10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Common state managed by </a:t>
              </a:r>
              <a:r>
                <a:rPr b="1" lang="en-US" sz="10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LangGraph StateGraph</a:t>
              </a:r>
              <a:endParaRPr sz="10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222222"/>
                </a:buClr>
                <a:buSzPts val="1000"/>
                <a:buFont typeface="Cambria"/>
                <a:buChar char="●"/>
              </a:pPr>
              <a:r>
                <a:rPr lang="en-US" sz="10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Conditional edges transition on test </a:t>
              </a:r>
              <a:r>
                <a:rPr b="1" lang="en-US" sz="1000">
                  <a:solidFill>
                    <a:srgbClr val="22C55E"/>
                  </a:solidFill>
                  <a:latin typeface="Cambria"/>
                  <a:ea typeface="Cambria"/>
                  <a:cs typeface="Cambria"/>
                  <a:sym typeface="Cambria"/>
                </a:rPr>
                <a:t>pass</a:t>
              </a:r>
              <a:r>
                <a:rPr lang="en-US" sz="10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/ </a:t>
              </a:r>
              <a:r>
                <a:rPr b="1" lang="en-US" sz="1000">
                  <a:solidFill>
                    <a:srgbClr val="EF4444"/>
                  </a:solidFill>
                  <a:latin typeface="Cambria"/>
                  <a:ea typeface="Cambria"/>
                  <a:cs typeface="Cambria"/>
                  <a:sym typeface="Cambria"/>
                </a:rPr>
                <a:t>fail</a:t>
              </a:r>
              <a:endParaRPr sz="10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222222"/>
                </a:buClr>
                <a:buSzPts val="1000"/>
                <a:buFont typeface="Cambria"/>
                <a:buChar char="●"/>
              </a:pPr>
              <a:r>
                <a:rPr lang="en-US" sz="10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Max iteration cap (5–10 rounds) prevents infinite loops</a:t>
              </a:r>
              <a:endParaRPr sz="10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222222"/>
                </a:buClr>
                <a:buSzPts val="1000"/>
                <a:buFont typeface="Cambria"/>
                <a:buChar char="●"/>
              </a:pPr>
              <a:r>
                <a:rPr b="1" lang="en-US" sz="10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Matrix:</a:t>
              </a:r>
              <a:r>
                <a:rPr lang="en-US" sz="10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5 models × 11 agents × 4 prompts = </a:t>
              </a:r>
              <a:r>
                <a:rPr b="1" lang="en-US" sz="1000">
                  <a:solidFill>
                    <a:srgbClr val="A88B4C"/>
                  </a:solidFill>
                  <a:latin typeface="Cambria"/>
                  <a:ea typeface="Cambria"/>
                  <a:cs typeface="Cambria"/>
                  <a:sym typeface="Cambria"/>
                </a:rPr>
                <a:t>220 configs</a:t>
              </a:r>
              <a:endParaRPr sz="10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6172200" y="4381500"/>
              <a:ext cx="5524500" cy="1809600"/>
            </a:xfrm>
            <a:prstGeom prst="roundRect">
              <a:avLst>
                <a:gd fmla="val 4210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6267450" y="4476750"/>
              <a:ext cx="533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Pseudocode — main feature</a:t>
              </a:r>
              <a:endParaRPr b="1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6267450" y="4762500"/>
              <a:ext cx="533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# baseline.py — control condition</a:t>
              </a:r>
              <a:endParaRPr b="0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b="0" lang="en-US" sz="110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10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run</a:t>
              </a:r>
              <a:r>
                <a:rPr b="0" lang="en-US" sz="110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(task, model):</a:t>
              </a:r>
              <a:endParaRPr b="0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lang="en-US" sz="110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 model.generate(task.prompt)</a:t>
              </a:r>
              <a:endParaRPr b="0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9"/>
          <p:cNvGrpSpPr/>
          <p:nvPr/>
        </p:nvGrpSpPr>
        <p:grpSpPr>
          <a:xfrm>
            <a:off x="361950" y="228600"/>
            <a:ext cx="11430000" cy="758175"/>
            <a:chOff x="361950" y="228600"/>
            <a:chExt cx="11430000" cy="758175"/>
          </a:xfrm>
        </p:grpSpPr>
        <p:pic>
          <p:nvPicPr>
            <p:cNvPr id="201" name="Google Shape;201;p19"/>
            <p:cNvPicPr preferRelativeResize="0"/>
            <p:nvPr/>
          </p:nvPicPr>
          <p:blipFill rotWithShape="1">
            <a:blip r:embed="rId4">
              <a:alphaModFix/>
            </a:blip>
            <a:srcRect b="0" l="10" r="10" t="10"/>
            <a:stretch/>
          </p:blipFill>
          <p:spPr>
            <a:xfrm>
              <a:off x="361950" y="228600"/>
              <a:ext cx="702000" cy="64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19"/>
            <p:cNvSpPr txBox="1"/>
            <p:nvPr/>
          </p:nvSpPr>
          <p:spPr>
            <a:xfrm>
              <a:off x="1095375" y="285750"/>
              <a:ext cx="41148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POLITECNICO DI TORINO</a:t>
              </a:r>
              <a:endParaRPr b="1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1095375" y="552450"/>
              <a:ext cx="50292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9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rPr>
                <a:t>Large Language Models for Software Engineering · Group Project</a:t>
              </a:r>
              <a:endParaRPr b="0" i="1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5486400" y="285750"/>
              <a:ext cx="62103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Generation: Swarm, Atomic Swarm, CoA, SoA</a:t>
              </a:r>
              <a:endParaRPr b="1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10782300" y="638175"/>
              <a:ext cx="9144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0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rPr>
                <a:t>— </a:t>
              </a:r>
              <a:r>
                <a:rPr i="1" lang="en-US" sz="10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rPr>
                <a:t>6</a:t>
              </a:r>
              <a:r>
                <a:rPr b="0" i="1" lang="en-US" sz="10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rPr>
                <a:t> —</a:t>
              </a:r>
              <a:endParaRPr b="0" i="1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361950" y="952500"/>
              <a:ext cx="11430000" cy="11400"/>
            </a:xfrm>
            <a:prstGeom prst="rect">
              <a:avLst/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361950" y="981075"/>
              <a:ext cx="11430000" cy="5700"/>
            </a:xfrm>
            <a:prstGeom prst="rect">
              <a:avLst/>
            </a:prstGeom>
            <a:solidFill>
              <a:srgbClr val="A88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381000" y="1190625"/>
            <a:ext cx="2762400" cy="1905000"/>
            <a:chOff x="381000" y="1190625"/>
            <a:chExt cx="2762400" cy="1905000"/>
          </a:xfrm>
        </p:grpSpPr>
        <p:sp>
          <p:nvSpPr>
            <p:cNvPr id="209" name="Google Shape;209;p19"/>
            <p:cNvSpPr/>
            <p:nvPr/>
          </p:nvSpPr>
          <p:spPr>
            <a:xfrm>
              <a:off x="381000" y="1190625"/>
              <a:ext cx="2762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381000" y="1190625"/>
              <a:ext cx="2762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Swarm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N parallel generators with voting.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Aggregation: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Vote, test-filtering, or LCS.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Optimal N: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N=10 for small model variance.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11" name="Google Shape;211;p19"/>
          <p:cNvGrpSpPr/>
          <p:nvPr/>
        </p:nvGrpSpPr>
        <p:grpSpPr>
          <a:xfrm>
            <a:off x="3333750" y="1190625"/>
            <a:ext cx="2762400" cy="1905000"/>
            <a:chOff x="3333750" y="1190625"/>
            <a:chExt cx="2762400" cy="1905000"/>
          </a:xfrm>
        </p:grpSpPr>
        <p:sp>
          <p:nvSpPr>
            <p:cNvPr id="212" name="Google Shape;212;p19"/>
            <p:cNvSpPr/>
            <p:nvPr/>
          </p:nvSpPr>
          <p:spPr>
            <a:xfrm>
              <a:off x="3333750" y="1190625"/>
              <a:ext cx="2762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3333750" y="1190625"/>
              <a:ext cx="2762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Atomic Swarm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Workers + unit tests.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Token Premium: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Swarm cost scales O(N).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361950" y="6400800"/>
            <a:ext cx="11430000" cy="314325"/>
            <a:chOff x="361950" y="6400800"/>
            <a:chExt cx="11430000" cy="314325"/>
          </a:xfrm>
        </p:grpSpPr>
        <p:sp>
          <p:nvSpPr>
            <p:cNvPr id="215" name="Google Shape;215;p19"/>
            <p:cNvSpPr/>
            <p:nvPr/>
          </p:nvSpPr>
          <p:spPr>
            <a:xfrm>
              <a:off x="361950" y="6400800"/>
              <a:ext cx="11430000" cy="7500"/>
            </a:xfrm>
            <a:prstGeom prst="rect">
              <a:avLst/>
            </a:prstGeom>
            <a:solidFill>
              <a:srgbClr val="00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457200" y="6486525"/>
              <a:ext cx="1123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9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rPr>
                <a:t>Politecnico di Torino · Large Language Models for Software Engineering · 2025 / 2026</a:t>
              </a:r>
              <a:endParaRPr b="0" i="1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6286500" y="1190625"/>
            <a:ext cx="2762400" cy="1905000"/>
            <a:chOff x="6286500" y="1190625"/>
            <a:chExt cx="2762400" cy="1905000"/>
          </a:xfrm>
        </p:grpSpPr>
        <p:sp>
          <p:nvSpPr>
            <p:cNvPr id="218" name="Google Shape;218;p19"/>
            <p:cNvSpPr/>
            <p:nvPr/>
          </p:nvSpPr>
          <p:spPr>
            <a:xfrm>
              <a:off x="6286500" y="1190625"/>
              <a:ext cx="2762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6286500" y="1190625"/>
              <a:ext cx="2762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CoA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Sequential (Planner → Coder → Tester → Fixer).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Error Compounding: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Sequential hallucination risk.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20" name="Google Shape;220;p19"/>
          <p:cNvGrpSpPr/>
          <p:nvPr/>
        </p:nvGrpSpPr>
        <p:grpSpPr>
          <a:xfrm>
            <a:off x="9239250" y="1190625"/>
            <a:ext cx="2571900" cy="1905000"/>
            <a:chOff x="9239250" y="1190625"/>
            <a:chExt cx="2571900" cy="1905000"/>
          </a:xfrm>
        </p:grpSpPr>
        <p:sp>
          <p:nvSpPr>
            <p:cNvPr id="221" name="Google Shape;221;p19"/>
            <p:cNvSpPr/>
            <p:nvPr/>
          </p:nvSpPr>
          <p:spPr>
            <a:xfrm>
              <a:off x="9239250" y="1190625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9239250" y="1190625"/>
              <a:ext cx="2571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SoA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Multi-turn collab (Architect, Coder, Reviewer).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23" name="Google Shape;223;p19"/>
          <p:cNvGrpSpPr/>
          <p:nvPr/>
        </p:nvGrpSpPr>
        <p:grpSpPr>
          <a:xfrm>
            <a:off x="381000" y="3286125"/>
            <a:ext cx="11430000" cy="333300"/>
            <a:chOff x="381000" y="3286125"/>
            <a:chExt cx="11430000" cy="333300"/>
          </a:xfrm>
        </p:grpSpPr>
        <p:sp>
          <p:nvSpPr>
            <p:cNvPr id="224" name="Google Shape;224;p19"/>
            <p:cNvSpPr/>
            <p:nvPr/>
          </p:nvSpPr>
          <p:spPr>
            <a:xfrm>
              <a:off x="381000" y="3286125"/>
              <a:ext cx="11430000" cy="333300"/>
            </a:xfrm>
            <a:prstGeom prst="roundRect">
              <a:avLst>
                <a:gd fmla="val 11428" name="adj"/>
              </a:avLst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476250" y="3286125"/>
              <a:ext cx="11239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Pseudocode — Main Implementation Patterns</a:t>
              </a:r>
              <a:endParaRPr b="1" i="1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381000" y="3714750"/>
            <a:ext cx="11430150" cy="2476500"/>
            <a:chOff x="381000" y="3714750"/>
            <a:chExt cx="1143015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381000" y="3714750"/>
              <a:ext cx="2762400" cy="2476500"/>
            </a:xfrm>
            <a:prstGeom prst="roundRect">
              <a:avLst>
                <a:gd fmla="val 3076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381000" y="3714750"/>
              <a:ext cx="2762400" cy="2476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Swarm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swarm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model, N=10):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cands = [model.generate(task.prompt)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_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range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(N)]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final = aggregate(cands,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strategy=</a:t>
              </a:r>
              <a:r>
                <a:rPr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"dedupe+compose"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final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3333750" y="3714750"/>
              <a:ext cx="2762400" cy="2476500"/>
            </a:xfrm>
            <a:prstGeom prst="roundRect">
              <a:avLst>
                <a:gd fmla="val 3076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3333750" y="3714750"/>
              <a:ext cx="2762400" cy="2476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Atomic Swarm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atomic_swarm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model):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base = model.generate(task.prompt +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 // typical case"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edge = model.generate(task.prompt +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 // edge case"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type_c = model.generate(task.prompt +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 // type/invalid"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merge([base, edge, type_c])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6286500" y="3714750"/>
              <a:ext cx="2762400" cy="2476500"/>
            </a:xfrm>
            <a:prstGeom prst="roundRect">
              <a:avLst>
                <a:gd fmla="val 3076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6286500" y="3714750"/>
              <a:ext cx="2762400" cy="2476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CoA (Chain of Analysis)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coa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mgr, worker):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dims = mgr.analyze(task.prompt)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suite = </a:t>
              </a:r>
              <a:r>
                <a:rPr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""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d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dims: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suite += worker.generate(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task.prompt + </a:t>
              </a:r>
              <a:r>
                <a:rPr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f" // focus: {d}"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suite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9239250" y="3714750"/>
              <a:ext cx="2571900" cy="2476500"/>
            </a:xfrm>
            <a:prstGeom prst="roundRect">
              <a:avLst>
                <a:gd fmla="val 3076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9239250" y="3714750"/>
              <a:ext cx="2571900" cy="2476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SOA (Service-Oriented)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soa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orch, spec):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specs = orch.identify(task.prompt)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tests = []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s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specs: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tests.append(spec.generate(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task.prompt + </a:t>
              </a:r>
              <a:r>
                <a:rPr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f" // exp: {s}"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combine(tests)</a:t>
              </a:r>
              <a:endParaRPr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85750"/>
            <a:ext cx="7020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1190625" y="333375"/>
            <a:ext cx="42864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DI TORINO</a:t>
            </a:r>
            <a:endParaRPr b="1" sz="1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1190625" y="619125"/>
            <a:ext cx="5238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· Group Project</a:t>
            </a:r>
            <a:endParaRPr i="1" sz="10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4143375" y="333375"/>
            <a:ext cx="7620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Validation: Consensus, Self-Healing, Actor-Critic</a:t>
            </a:r>
            <a:endParaRPr b="1" sz="24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28625" y="1000125"/>
            <a:ext cx="11334900" cy="144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28625" y="1028700"/>
            <a:ext cx="11334900" cy="75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>
            <a:off x="428625" y="1238250"/>
            <a:ext cx="3667200" cy="2286000"/>
            <a:chOff x="428625" y="1238250"/>
            <a:chExt cx="3667200" cy="2286000"/>
          </a:xfrm>
        </p:grpSpPr>
        <p:sp>
          <p:nvSpPr>
            <p:cNvPr id="246" name="Google Shape;246;p20"/>
            <p:cNvSpPr/>
            <p:nvPr/>
          </p:nvSpPr>
          <p:spPr>
            <a:xfrm>
              <a:off x="428625" y="1238250"/>
              <a:ext cx="3667200" cy="2286000"/>
            </a:xfrm>
            <a:prstGeom prst="roundRect">
              <a:avLst>
                <a:gd fmla="val 6250" name="adj"/>
              </a:avLst>
            </a:prstGeom>
            <a:solidFill>
              <a:srgbClr val="F8F9FA"/>
            </a:solidFill>
            <a:ln cap="flat" cmpd="sng" w="14300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428625" y="1238250"/>
              <a:ext cx="3667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Consensus</a:t>
              </a:r>
              <a:endParaRPr b="1" sz="18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3 proposers + 1 judge model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Judge ranks candidates on correctness + clarity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Highest performance ceiling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4262438" y="1238250"/>
            <a:ext cx="3667200" cy="2286000"/>
            <a:chOff x="4262438" y="1238250"/>
            <a:chExt cx="3667200" cy="2286000"/>
          </a:xfrm>
        </p:grpSpPr>
        <p:sp>
          <p:nvSpPr>
            <p:cNvPr id="249" name="Google Shape;249;p20"/>
            <p:cNvSpPr/>
            <p:nvPr/>
          </p:nvSpPr>
          <p:spPr>
            <a:xfrm>
              <a:off x="4262438" y="1238250"/>
              <a:ext cx="3667200" cy="2286000"/>
            </a:xfrm>
            <a:prstGeom prst="roundRect">
              <a:avLst>
                <a:gd fmla="val 6250" name="adj"/>
              </a:avLst>
            </a:prstGeom>
            <a:solidFill>
              <a:srgbClr val="F8F9FA"/>
            </a:solidFill>
            <a:ln cap="flat" cmpd="sng" w="14300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 txBox="1"/>
            <p:nvPr/>
          </p:nvSpPr>
          <p:spPr>
            <a:xfrm>
              <a:off x="4262438" y="1238250"/>
              <a:ext cx="3667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Self-Healing</a:t>
              </a:r>
              <a:endParaRPr b="1" sz="18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Cycle: generate → test → feedback → regenerate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Max 5 rounds; early abort on no-change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Most token-efficient strategy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8096250" y="1238250"/>
            <a:ext cx="3667200" cy="2286000"/>
            <a:chOff x="8096250" y="1238250"/>
            <a:chExt cx="3667200" cy="2286000"/>
          </a:xfrm>
        </p:grpSpPr>
        <p:sp>
          <p:nvSpPr>
            <p:cNvPr id="252" name="Google Shape;252;p20"/>
            <p:cNvSpPr/>
            <p:nvPr/>
          </p:nvSpPr>
          <p:spPr>
            <a:xfrm>
              <a:off x="8096250" y="1238250"/>
              <a:ext cx="3667200" cy="2286000"/>
            </a:xfrm>
            <a:prstGeom prst="roundRect">
              <a:avLst>
                <a:gd fmla="val 6250" name="adj"/>
              </a:avLst>
            </a:prstGeom>
            <a:solidFill>
              <a:srgbClr val="F8F9FA"/>
            </a:solidFill>
            <a:ln cap="flat" cmpd="sng" w="14300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8096250" y="1238250"/>
              <a:ext cx="3667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Actor-Critic</a:t>
              </a:r>
              <a:endParaRPr b="1" sz="18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Dynamic duo: Tester defends, Hacker breaks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Hacker targets candidate failure points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Cambria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Excellent for surfacing edge-case blind spots</a:t>
              </a:r>
              <a:endParaRPr sz="12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254" name="Google Shape;254;p20"/>
          <p:cNvSpPr txBox="1"/>
          <p:nvPr/>
        </p:nvSpPr>
        <p:spPr>
          <a:xfrm>
            <a:off x="428625" y="3726300"/>
            <a:ext cx="1133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Pseudocode — Main Implementation Patterns</a:t>
            </a:r>
            <a:endParaRPr b="1" i="1" sz="1200" u="none" strike="noStrike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28625" y="6477000"/>
            <a:ext cx="113349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· Large Language Models for Software Engineering · 2025 / 2026</a:t>
            </a:r>
            <a:endParaRPr i="1" sz="9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0843250" y="702675"/>
            <a:ext cx="952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9525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7 —</a:t>
            </a:r>
            <a:endParaRPr i="1" sz="10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58" name="Google Shape;258;p20"/>
          <p:cNvGrpSpPr/>
          <p:nvPr/>
        </p:nvGrpSpPr>
        <p:grpSpPr>
          <a:xfrm>
            <a:off x="428625" y="4048125"/>
            <a:ext cx="11334825" cy="2286000"/>
            <a:chOff x="428625" y="4048125"/>
            <a:chExt cx="11334825" cy="2286000"/>
          </a:xfrm>
        </p:grpSpPr>
        <p:sp>
          <p:nvSpPr>
            <p:cNvPr id="259" name="Google Shape;259;p20"/>
            <p:cNvSpPr/>
            <p:nvPr/>
          </p:nvSpPr>
          <p:spPr>
            <a:xfrm>
              <a:off x="428625" y="4048125"/>
              <a:ext cx="3667200" cy="2286000"/>
            </a:xfrm>
            <a:prstGeom prst="roundRect">
              <a:avLst>
                <a:gd fmla="val 3333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428625" y="4048125"/>
              <a:ext cx="36672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Consensus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consensus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proposers, judge):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cands = [p.generate(task.prompt)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p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proposers]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judge.select(cands,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criteria=</a:t>
              </a:r>
              <a:r>
                <a:rPr b="0"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"correctness"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4262438" y="4048125"/>
              <a:ext cx="3667200" cy="2286000"/>
            </a:xfrm>
            <a:prstGeom prst="roundRect">
              <a:avLst>
                <a:gd fmla="val 3333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4262438" y="4048125"/>
              <a:ext cx="36672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Self-Healing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self_heal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model, rounds=5):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code = model.generate(task.prompt)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_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range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(rounds):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passes(code):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code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errs = run(code)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code = model.generate(p, errors=errs)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code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8096250" y="4048125"/>
              <a:ext cx="3667200" cy="2286000"/>
            </a:xfrm>
            <a:prstGeom prst="roundRect">
              <a:avLst>
                <a:gd fmla="val 3333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 txBox="1"/>
            <p:nvPr/>
          </p:nvSpPr>
          <p:spPr>
            <a:xfrm>
              <a:off x="8096250" y="4048125"/>
              <a:ext cx="36672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Actor-Critic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actor_critic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actor, critic):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code = actor.generate(task.prompt)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_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b="1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range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(3):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fb = critic.review(code)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fb == </a:t>
              </a:r>
              <a:r>
                <a:rPr b="0"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"PASSED"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code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code = actor.generate(p, feedback=fb)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code</a:t>
              </a:r>
              <a:endParaRPr b="1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85750"/>
            <a:ext cx="7020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1190625" y="333375"/>
            <a:ext cx="42864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DI TORINO</a:t>
            </a:r>
            <a:endParaRPr b="1" sz="1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1190625" y="619125"/>
            <a:ext cx="5238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· Group Project</a:t>
            </a:r>
            <a:endParaRPr i="1" sz="10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28625" y="1000125"/>
            <a:ext cx="11334900" cy="144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428625" y="1028700"/>
            <a:ext cx="11334900" cy="75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4" name="Google Shape;274;p21"/>
          <p:cNvGrpSpPr/>
          <p:nvPr/>
        </p:nvGrpSpPr>
        <p:grpSpPr>
          <a:xfrm>
            <a:off x="428625" y="1238250"/>
            <a:ext cx="3667200" cy="2381400"/>
            <a:chOff x="428625" y="1238250"/>
            <a:chExt cx="3667200" cy="2381400"/>
          </a:xfrm>
        </p:grpSpPr>
        <p:sp>
          <p:nvSpPr>
            <p:cNvPr id="275" name="Google Shape;275;p21"/>
            <p:cNvSpPr/>
            <p:nvPr/>
          </p:nvSpPr>
          <p:spPr>
            <a:xfrm>
              <a:off x="428625" y="1238250"/>
              <a:ext cx="3667200" cy="2381400"/>
            </a:xfrm>
            <a:prstGeom prst="roundRect">
              <a:avLst>
                <a:gd fmla="val 4800" name="adj"/>
              </a:avLst>
            </a:prstGeom>
            <a:solidFill>
              <a:srgbClr val="F8F9FA"/>
            </a:solidFill>
            <a:ln cap="flat" cmpd="sng" w="14300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428625" y="123825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Adversarial</a:t>
              </a:r>
              <a:endParaRPr b="1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Cambria"/>
                <a:buChar char="●"/>
              </a:pPr>
              <a:r>
                <a:rPr b="0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Tester defends, Hacker breaks</a:t>
              </a:r>
              <a:endParaRPr b="0" sz="13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Cambria"/>
                <a:buChar char="●"/>
              </a:pPr>
              <a:r>
                <a:rPr b="0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Hacker proposes inputs that fail the candidate</a:t>
              </a:r>
              <a:endParaRPr b="0" sz="13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Cambria"/>
                <a:buChar char="●"/>
              </a:pPr>
              <a:r>
                <a:rPr b="0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Useful for surfacing edge-case blind spots</a:t>
              </a:r>
              <a:endParaRPr b="0" sz="13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77" name="Google Shape;277;p21"/>
          <p:cNvGrpSpPr/>
          <p:nvPr/>
        </p:nvGrpSpPr>
        <p:grpSpPr>
          <a:xfrm>
            <a:off x="4262438" y="1238250"/>
            <a:ext cx="3667200" cy="2381400"/>
            <a:chOff x="4262438" y="1238250"/>
            <a:chExt cx="3667200" cy="2381400"/>
          </a:xfrm>
        </p:grpSpPr>
        <p:sp>
          <p:nvSpPr>
            <p:cNvPr id="278" name="Google Shape;278;p21"/>
            <p:cNvSpPr/>
            <p:nvPr/>
          </p:nvSpPr>
          <p:spPr>
            <a:xfrm>
              <a:off x="4262438" y="1238250"/>
              <a:ext cx="3667200" cy="2381400"/>
            </a:xfrm>
            <a:prstGeom prst="roundRect">
              <a:avLst>
                <a:gd fmla="val 4800" name="adj"/>
              </a:avLst>
            </a:prstGeom>
            <a:solidFill>
              <a:srgbClr val="F8F9FA"/>
            </a:solidFill>
            <a:ln cap="flat" cmpd="sng" w="14300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4262438" y="123825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Competitive</a:t>
              </a:r>
              <a:endParaRPr b="1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Cambria"/>
                <a:buChar char="●"/>
              </a:pPr>
              <a:r>
                <a:rPr b="0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Two generators judged head-to-head</a:t>
              </a:r>
              <a:endParaRPr b="0" sz="13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Cambria"/>
                <a:buChar char="●"/>
              </a:pPr>
              <a:r>
                <a:rPr b="1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Strength:</a:t>
              </a:r>
              <a:r>
                <a:rPr b="0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 explicit quality signal at every step</a:t>
              </a:r>
              <a:endParaRPr b="0" sz="13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Cambria"/>
                <a:buChar char="●"/>
              </a:pPr>
              <a:r>
                <a:rPr b="1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Weakness:</a:t>
              </a:r>
              <a:r>
                <a:rPr b="0" lang="en-US" sz="1300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 errors compound; Critic must outrank Actor</a:t>
              </a:r>
              <a:endParaRPr b="0" sz="1300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80" name="Google Shape;280;p21"/>
          <p:cNvGrpSpPr/>
          <p:nvPr/>
        </p:nvGrpSpPr>
        <p:grpSpPr>
          <a:xfrm>
            <a:off x="8096250" y="1238250"/>
            <a:ext cx="3667200" cy="2381400"/>
            <a:chOff x="8096250" y="1238250"/>
            <a:chExt cx="3667200" cy="2381400"/>
          </a:xfrm>
        </p:grpSpPr>
        <p:sp>
          <p:nvSpPr>
            <p:cNvPr id="281" name="Google Shape;281;p21"/>
            <p:cNvSpPr/>
            <p:nvPr/>
          </p:nvSpPr>
          <p:spPr>
            <a:xfrm>
              <a:off x="8096250" y="1238250"/>
              <a:ext cx="3667200" cy="2381400"/>
            </a:xfrm>
            <a:prstGeom prst="roundRect">
              <a:avLst>
                <a:gd fmla="val 4800" name="adj"/>
              </a:avLst>
            </a:prstGeom>
            <a:solidFill>
              <a:srgbClr val="F8F9FA"/>
            </a:solidFill>
            <a:ln cap="flat" cmpd="sng" w="14300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1"/>
            <p:cNvSpPr txBox="1"/>
            <p:nvPr/>
          </p:nvSpPr>
          <p:spPr>
            <a:xfrm>
              <a:off x="8096250" y="123825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Hybrid</a:t>
              </a:r>
              <a:endParaRPr b="1" sz="187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768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105"/>
                <a:buFont typeface="Cambria"/>
                <a:buChar char="●"/>
              </a:pPr>
              <a:r>
                <a:rPr b="0" lang="en-US" sz="1105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Swarm population followed by Self-Healing</a:t>
              </a:r>
              <a:endParaRPr b="0" sz="1105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76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5"/>
                <a:buFont typeface="Cambria"/>
                <a:buChar char="●"/>
              </a:pPr>
              <a:r>
                <a:rPr b="0" lang="en-US" sz="1105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Aggregation: majority vote / test-based / LCS</a:t>
              </a:r>
              <a:endParaRPr b="0" sz="1105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76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5"/>
                <a:buFont typeface="Cambria"/>
                <a:buChar char="●"/>
              </a:pPr>
              <a:r>
                <a:rPr b="0" lang="en-US" sz="1105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Token cost: linear in N (dominant expense)</a:t>
              </a:r>
              <a:endParaRPr b="0" sz="1105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76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5"/>
                <a:buFont typeface="Cambria"/>
                <a:buChar char="●"/>
              </a:pPr>
              <a:r>
                <a:rPr b="0" lang="en-US" sz="1105">
                  <a:solidFill>
                    <a:srgbClr val="333333"/>
                  </a:solidFill>
                  <a:latin typeface="Cambria"/>
                  <a:ea typeface="Cambria"/>
                  <a:cs typeface="Cambria"/>
                  <a:sym typeface="Cambria"/>
                </a:rPr>
                <a:t>Risk: correlated hallucinations across workers</a:t>
              </a:r>
              <a:endParaRPr b="0" sz="1105">
                <a:solidFill>
                  <a:srgbClr val="3333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283" name="Google Shape;283;p21"/>
          <p:cNvSpPr txBox="1"/>
          <p:nvPr/>
        </p:nvSpPr>
        <p:spPr>
          <a:xfrm>
            <a:off x="428625" y="3810000"/>
            <a:ext cx="11334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Pseudocode — Main Implementation Patterns</a:t>
            </a:r>
            <a:endParaRPr b="1" i="1" sz="13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84" name="Google Shape;284;p21"/>
          <p:cNvGrpSpPr/>
          <p:nvPr/>
        </p:nvGrpSpPr>
        <p:grpSpPr>
          <a:xfrm>
            <a:off x="428625" y="4238625"/>
            <a:ext cx="11334825" cy="2000100"/>
            <a:chOff x="428625" y="4238625"/>
            <a:chExt cx="11334825" cy="2000100"/>
          </a:xfrm>
        </p:grpSpPr>
        <p:sp>
          <p:nvSpPr>
            <p:cNvPr id="285" name="Google Shape;285;p21"/>
            <p:cNvSpPr/>
            <p:nvPr/>
          </p:nvSpPr>
          <p:spPr>
            <a:xfrm>
              <a:off x="428625" y="4238625"/>
              <a:ext cx="3667200" cy="2000100"/>
            </a:xfrm>
            <a:prstGeom prst="roundRect">
              <a:avLst>
                <a:gd fmla="val 3809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 txBox="1"/>
            <p:nvPr/>
          </p:nvSpPr>
          <p:spPr>
            <a:xfrm>
              <a:off x="428625" y="4238625"/>
              <a:ext cx="36672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Adversarial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b="1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adversarial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hacker, tester):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mutated = hacker.mutate(task.source)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tests = tester.generate(task.prompt_for(mutated))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res = run_tests(mutated, tests)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caught = (res.failed &gt; 0 </a:t>
              </a: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or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res.errors &gt; 0)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{"mutated": mutated, "caught": caught}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4262438" y="4238625"/>
              <a:ext cx="3667200" cy="2000100"/>
            </a:xfrm>
            <a:prstGeom prst="roundRect">
              <a:avLst>
                <a:gd fmla="val 3809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1"/>
            <p:cNvSpPr txBox="1"/>
            <p:nvPr/>
          </p:nvSpPr>
          <p:spPr>
            <a:xfrm>
              <a:off x="4262438" y="4238625"/>
              <a:ext cx="36672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Competitive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b="1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competitive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models):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gens = {m: m.generate(task.prompt) </a:t>
              </a: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m </a:t>
              </a: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models}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scores = {}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m, code </a:t>
              </a: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gens.items():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m_res = run_tests(task.source, code)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scores[m] = m_res.functional_correctness * 100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{"winner": argmax(scores)}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8096250" y="4238625"/>
              <a:ext cx="3667200" cy="2000100"/>
            </a:xfrm>
            <a:prstGeom prst="roundRect">
              <a:avLst>
                <a:gd fmla="val 3809" name="adj"/>
              </a:avLst>
            </a:prstGeom>
            <a:solidFill>
              <a:srgbClr val="CFE2F3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8096250" y="4238625"/>
              <a:ext cx="36672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def </a:t>
              </a:r>
              <a:r>
                <a:rPr b="0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hybrid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(task, gen_model, evolve_model):</a:t>
              </a:r>
              <a:endParaRPr b="1" i="0"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Diverse variations (swarm)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pop = [gen_model.generate(task.prompt + </a:t>
              </a:r>
              <a:r>
                <a:rPr b="0" i="0"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f" // v{i}"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) </a:t>
              </a: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i </a:t>
              </a: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range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(2)]</a:t>
              </a:r>
              <a:endParaRPr b="0" i="0"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A88B4C"/>
                  </a:solidFill>
                  <a:latin typeface="Consolas"/>
                  <a:ea typeface="Consolas"/>
                  <a:cs typeface="Consolas"/>
                  <a:sym typeface="Consolas"/>
                </a:rPr>
                <a:t># Evolve into final solution</a:t>
              </a:r>
              <a:endParaRPr b="1" i="0" sz="850">
                <a:solidFill>
                  <a:srgbClr val="A88B4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best = evolve_model.generate(</a:t>
              </a:r>
              <a:r>
                <a:rPr b="0" i="0"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"Merge:\n"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+ </a:t>
              </a:r>
              <a:r>
                <a:rPr b="0" i="0" lang="en-US" sz="85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"\n---\n"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.join(pop))</a:t>
              </a:r>
              <a:endParaRPr b="0" i="0"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b="0" i="0" lang="en-US" sz="850">
                  <a:solidFill>
                    <a:srgbClr val="002B5C"/>
                  </a:solidFill>
                  <a:latin typeface="Consolas"/>
                  <a:ea typeface="Consolas"/>
                  <a:cs typeface="Consolas"/>
                  <a:sym typeface="Consolas"/>
                </a:rPr>
                <a:t> best</a:t>
              </a:r>
              <a:endParaRPr b="1" i="0" sz="850">
                <a:solidFill>
                  <a:srgbClr val="002B5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91" name="Google Shape;291;p21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28625" y="6477000"/>
            <a:ext cx="113349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· Large Language Models for Software Engineering · 2025 / 2026</a:t>
            </a:r>
            <a:endParaRPr i="1" sz="9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0746925" y="622500"/>
            <a:ext cx="952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9525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8—</a:t>
            </a:r>
            <a:endParaRPr i="1" sz="10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537025" y="210383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Adversarial,</a:t>
            </a: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 Competitive &amp; Hybrid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299" name="Google Shape;2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1097280" y="29260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1097280" y="5669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5486400" y="292608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Results — Gemma-1B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10789920" y="640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9 —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365760" y="960120"/>
            <a:ext cx="11430000" cy="10972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365760" y="982980"/>
            <a:ext cx="11430000" cy="5486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365760" y="6400800"/>
            <a:ext cx="11430000" cy="7315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pic>
        <p:nvPicPr>
          <p:cNvPr id="308" name="Google Shape;308;p22" title="gemma-1b_char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825" y="1296101"/>
            <a:ext cx="6997376" cy="496784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7377201" y="1559125"/>
            <a:ext cx="39903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Considerations: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Top Performer: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actor_critic</a:t>
            </a:r>
            <a:r>
              <a:rPr b="1" lang="en-US" sz="1100">
                <a:solidFill>
                  <a:schemeClr val="dk1"/>
                </a:solidFill>
              </a:rPr>
              <a:t> +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few_shot</a:t>
            </a:r>
            <a:r>
              <a:rPr lang="en-US" sz="1100">
                <a:solidFill>
                  <a:schemeClr val="dk1"/>
                </a:solidFill>
              </a:rPr>
              <a:t> Achieves </a:t>
            </a:r>
            <a:r>
              <a:rPr b="1" lang="en-US" sz="1100">
                <a:solidFill>
                  <a:schemeClr val="dk1"/>
                </a:solidFill>
              </a:rPr>
              <a:t>54.6%</a:t>
            </a:r>
            <a:r>
              <a:rPr lang="en-US" sz="1100">
                <a:solidFill>
                  <a:schemeClr val="dk1"/>
                </a:solidFill>
              </a:rPr>
              <a:t> Pass Rate (3x increase over the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zero_shot</a:t>
            </a:r>
            <a:r>
              <a:rPr lang="en-US" sz="1100">
                <a:solidFill>
                  <a:schemeClr val="dk1"/>
                </a:solidFill>
              </a:rPr>
              <a:t> baseline).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Few-Shot</a:t>
            </a:r>
            <a:r>
              <a:rPr b="1" lang="en-US" sz="1100">
                <a:solidFill>
                  <a:schemeClr val="dk1"/>
                </a:solidFill>
              </a:rPr>
              <a:t> is essential:</a:t>
            </a:r>
            <a:r>
              <a:rPr lang="en-US" sz="1100">
                <a:solidFill>
                  <a:schemeClr val="dk1"/>
                </a:solidFill>
              </a:rPr>
              <a:t> because of the lack of </a:t>
            </a:r>
            <a:r>
              <a:rPr lang="en-US" sz="1100">
                <a:solidFill>
                  <a:schemeClr val="dk1"/>
                </a:solidFill>
              </a:rPr>
              <a:t>abstraction, providing concrete examples is critical for structuring code correctly.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Architectural Limits</a:t>
            </a:r>
            <a:r>
              <a:rPr lang="en-US" sz="1100">
                <a:solidFill>
                  <a:schemeClr val="dk1"/>
                </a:solidFill>
              </a:rPr>
              <a:t> Overly fragmented multi-agent workflows (e.g.,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atomic_swarm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coa</a:t>
            </a:r>
            <a:r>
              <a:rPr lang="en-US" sz="1100">
                <a:solidFill>
                  <a:schemeClr val="dk1"/>
                </a:solidFill>
              </a:rPr>
              <a:t>) overwhelm the model, collapsing to 0% accuracy.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Token Consumption Trade-off</a:t>
            </a:r>
            <a:r>
              <a:rPr lang="en-US" sz="1100">
                <a:solidFill>
                  <a:schemeClr val="dk1"/>
                </a:solidFill>
              </a:rPr>
              <a:t> Consumes ~2.5x more tokens (~5300 vs ~2160), but completely triples the success rate.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10" name="Google Shape;310;p22" title="gemma-1b_efficiency_scatt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1140975"/>
            <a:ext cx="6931700" cy="51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7510525" y="129610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316" name="Google Shape;3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Results — Gemma</a:t>
            </a: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–4</a:t>
            </a: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pic>
        <p:nvPicPr>
          <p:cNvPr id="325" name="Google Shape;325;p23" title="gemma-4b_chart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825" y="1296101"/>
            <a:ext cx="6997376" cy="496784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 txBox="1"/>
          <p:nvPr/>
        </p:nvSpPr>
        <p:spPr>
          <a:xfrm>
            <a:off x="7377200" y="1559125"/>
            <a:ext cx="3990300" cy="47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Considerations: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Simplicity Wins: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baseline</a:t>
            </a:r>
            <a:r>
              <a:rPr b="1" lang="en-US" sz="1100">
                <a:solidFill>
                  <a:schemeClr val="dk1"/>
                </a:solidFill>
              </a:rPr>
              <a:t> +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few_shot</a:t>
            </a:r>
            <a:r>
              <a:rPr lang="en-US" sz="1100">
                <a:solidFill>
                  <a:schemeClr val="dk1"/>
                </a:solidFill>
              </a:rPr>
              <a:t> Peak accuracy at </a:t>
            </a:r>
            <a:r>
              <a:rPr b="1" lang="en-US" sz="1100">
                <a:solidFill>
                  <a:schemeClr val="dk1"/>
                </a:solidFill>
              </a:rPr>
              <a:t>77.0%</a:t>
            </a:r>
            <a:r>
              <a:rPr lang="en-US" sz="1100">
                <a:solidFill>
                  <a:schemeClr val="dk1"/>
                </a:solidFill>
              </a:rPr>
              <a:t> (+15% over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zero_shot</a:t>
            </a:r>
            <a:r>
              <a:rPr lang="en-US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actor_critic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adversarial</a:t>
            </a:r>
            <a:r>
              <a:rPr lang="en-US" sz="1100">
                <a:solidFill>
                  <a:schemeClr val="dk1"/>
                </a:solidFill>
              </a:rPr>
              <a:t> approaches are competitive (~75%) but introduce unjustifiable system overhead.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Chain of Abstraction </a:t>
            </a:r>
            <a:r>
              <a:rPr lang="en-US" sz="1100">
                <a:solidFill>
                  <a:schemeClr val="dk1"/>
                </a:solidFill>
              </a:rPr>
              <a:t>(CoA) workflows fail entirely (~1.3%). Forcing a 4B model to write and translate pseudo-code destroys context.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lang="en-US" sz="1100">
                <a:solidFill>
                  <a:schemeClr val="dk1"/>
                </a:solidFill>
              </a:rPr>
              <a:t>Providing examples actually </a:t>
            </a:r>
            <a:r>
              <a:rPr i="1" lang="en-US" sz="1100">
                <a:solidFill>
                  <a:schemeClr val="dk1"/>
                </a:solidFill>
              </a:rPr>
              <a:t>reduces</a:t>
            </a:r>
            <a:r>
              <a:rPr lang="en-US" sz="1100">
                <a:solidFill>
                  <a:schemeClr val="dk1"/>
                </a:solidFill>
              </a:rPr>
              <a:t> token usage (~1620 vs ~2527). The model avoids hallucinations and writes concise code.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27" name="Google Shape;327;p23" title="gemma-4b_efficiency_scatt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650" y="1086625"/>
            <a:ext cx="6931700" cy="51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3"/>
          <p:cNvSpPr txBox="1"/>
          <p:nvPr/>
        </p:nvSpPr>
        <p:spPr>
          <a:xfrm>
            <a:off x="7315200" y="114300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333" name="Google Shape;3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4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Results — Gemma-</a:t>
            </a: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7470900" y="1718400"/>
            <a:ext cx="3990300" cy="4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Considerations: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Size Isn't Everything</a:t>
            </a:r>
            <a:r>
              <a:rPr lang="en-US" sz="1100">
                <a:solidFill>
                  <a:schemeClr val="dk1"/>
                </a:solidFill>
              </a:rPr>
              <a:t>: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zero_shot</a:t>
            </a:r>
            <a:r>
              <a:rPr lang="en-US" sz="1100">
                <a:solidFill>
                  <a:schemeClr val="dk1"/>
                </a:solidFill>
              </a:rPr>
              <a:t> baseline severely underperforms at just </a:t>
            </a:r>
            <a:r>
              <a:rPr b="1" lang="en-US" sz="1100">
                <a:solidFill>
                  <a:schemeClr val="dk1"/>
                </a:solidFill>
              </a:rPr>
              <a:t>24.6%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CoT: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actor_critic</a:t>
            </a:r>
            <a:r>
              <a:rPr b="1" lang="en-US" sz="1100">
                <a:solidFill>
                  <a:schemeClr val="dk1"/>
                </a:solidFill>
              </a:rPr>
              <a:t> +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cot</a:t>
            </a:r>
            <a:r>
              <a:rPr lang="en-US" sz="1100">
                <a:solidFill>
                  <a:schemeClr val="dk1"/>
                </a:solidFill>
              </a:rPr>
              <a:t> Forcing the model to "think aloud" (Chain of Thought) jumps accuracy to </a:t>
            </a:r>
            <a:r>
              <a:rPr b="1" lang="en-US" sz="1100">
                <a:solidFill>
                  <a:schemeClr val="dk1"/>
                </a:solidFill>
              </a:rPr>
              <a:t>71.7%</a:t>
            </a:r>
            <a:r>
              <a:rPr lang="en-US" sz="1100">
                <a:solidFill>
                  <a:schemeClr val="dk1"/>
                </a:solidFill>
              </a:rPr>
              <a:t> (nearly a 3x jump).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Heavy Abstraction Fails</a:t>
            </a:r>
            <a:r>
              <a:rPr lang="en-US" sz="1100">
                <a:solidFill>
                  <a:schemeClr val="dk1"/>
                </a:solidFill>
              </a:rPr>
              <a:t> Complex multi-agent architectures (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swarm</a:t>
            </a:r>
            <a:r>
              <a:rPr lang="en-US" sz="1100">
                <a:solidFill>
                  <a:schemeClr val="dk1"/>
                </a:solidFill>
              </a:rPr>
              <a:t>) or pseudo-code translation (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coa</a:t>
            </a:r>
            <a:r>
              <a:rPr lang="en-US" sz="1100">
                <a:solidFill>
                  <a:schemeClr val="dk1"/>
                </a:solidFill>
              </a:rPr>
              <a:t>) overwhelm the 12B model, collapsing to ~0-1.6% accuracy.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Efficiency: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adversarial</a:t>
            </a:r>
            <a:r>
              <a:rPr b="1" lang="en-US" sz="1100">
                <a:solidFill>
                  <a:schemeClr val="dk1"/>
                </a:solidFill>
              </a:rPr>
              <a:t> + </a:t>
            </a:r>
            <a:r>
              <a:rPr b="1"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cot</a:t>
            </a:r>
            <a:r>
              <a:rPr lang="en-US" sz="1100">
                <a:solidFill>
                  <a:schemeClr val="dk1"/>
                </a:solidFill>
              </a:rPr>
              <a:t> Achieves a </a:t>
            </a:r>
            <a:r>
              <a:rPr b="1" lang="en-US" sz="1100">
                <a:solidFill>
                  <a:schemeClr val="dk1"/>
                </a:solidFill>
              </a:rPr>
              <a:t>68.2%</a:t>
            </a:r>
            <a:r>
              <a:rPr lang="en-US" sz="1100">
                <a:solidFill>
                  <a:schemeClr val="dk1"/>
                </a:solidFill>
              </a:rPr>
              <a:t> accuracy while using only </a:t>
            </a:r>
            <a:r>
              <a:rPr b="1" lang="en-US" sz="1100">
                <a:solidFill>
                  <a:schemeClr val="dk1"/>
                </a:solidFill>
              </a:rPr>
              <a:t>~891 tokens</a:t>
            </a:r>
            <a:r>
              <a:rPr lang="en-US" sz="1100">
                <a:solidFill>
                  <a:schemeClr val="dk1"/>
                </a:solidFill>
              </a:rPr>
              <a:t>—costing almost exactly the same as the weak baseline.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7619675" y="1541175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4" title="gemma-12b_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01" y="1397013"/>
            <a:ext cx="6472381" cy="459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4" title="gemma-12b_efficiency_scat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625" y="1147702"/>
            <a:ext cx="6791690" cy="50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350" name="Google Shape;3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5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Results — Gemma-</a:t>
            </a: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7470900" y="1718400"/>
            <a:ext cx="3990300" cy="4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Considerations: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lang="en-US" sz="1100">
                <a:solidFill>
                  <a:schemeClr val="dk1"/>
                </a:solidFill>
              </a:rPr>
              <a:t>Massive out-of-the-box performance (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zero_shot</a:t>
            </a:r>
            <a:r>
              <a:rPr lang="en-US" sz="1100">
                <a:solidFill>
                  <a:schemeClr val="dk1"/>
                </a:solidFill>
              </a:rPr>
              <a:t> baseline is </a:t>
            </a:r>
            <a:r>
              <a:rPr b="1" lang="en-US" sz="1100">
                <a:solidFill>
                  <a:schemeClr val="dk1"/>
                </a:solidFill>
              </a:rPr>
              <a:t>75.4%</a:t>
            </a:r>
            <a:r>
              <a:rPr lang="en-US" sz="1100">
                <a:solidFill>
                  <a:schemeClr val="dk1"/>
                </a:solidFill>
              </a:rPr>
              <a:t>). Heavy multi-agent systems add marginal gain while doubling token costs.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Self-Correction: </a:t>
            </a:r>
            <a:r>
              <a:rPr lang="en-US" sz="1100">
                <a:solidFill>
                  <a:schemeClr val="dk1"/>
                </a:solidFill>
              </a:rPr>
              <a:t>The top 3 overall strategies rely entirely on SCoT. Model is able to review and fix its own code.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adversarial:scot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 achieves a 77.2% accuracy while consuming </a:t>
            </a:r>
            <a:r>
              <a:rPr i="1" lang="en-US" sz="1100">
                <a:solidFill>
                  <a:schemeClr val="dk1"/>
                </a:solidFill>
              </a:rPr>
              <a:t>fewer</a:t>
            </a:r>
            <a:r>
              <a:rPr lang="en-US" sz="1100">
                <a:solidFill>
                  <a:schemeClr val="dk1"/>
                </a:solidFill>
              </a:rPr>
              <a:t> tokens than the raw baseline (~1224 vs ~1547).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F</a:t>
            </a:r>
            <a:r>
              <a:rPr lang="en-US" sz="1100">
                <a:solidFill>
                  <a:schemeClr val="dk1"/>
                </a:solidFill>
              </a:rPr>
              <a:t>orcing the model into a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competitive</a:t>
            </a:r>
            <a:r>
              <a:rPr lang="en-US" sz="1100">
                <a:solidFill>
                  <a:schemeClr val="dk1"/>
                </a:solidFill>
              </a:rPr>
              <a:t> multi-agent environment crashes accuracy to ~3.4%. The model gets lost trying to follow the rules of the debate.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60" name="Google Shape;360;p25" title="gemma-27b_char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01" y="1397013"/>
            <a:ext cx="6472381" cy="459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title="gemma-27b_efficiency_scatt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100" y="1087852"/>
            <a:ext cx="6791690" cy="50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366" name="Google Shape;3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6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Results — Gemma-</a:t>
            </a: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4-31</a:t>
            </a: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/>
          </a:p>
        </p:txBody>
      </p:sp>
      <p:sp>
        <p:nvSpPr>
          <p:cNvPr id="370" name="Google Shape;370;p26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sp>
        <p:nvSpPr>
          <p:cNvPr id="375" name="Google Shape;375;p26"/>
          <p:cNvSpPr txBox="1"/>
          <p:nvPr/>
        </p:nvSpPr>
        <p:spPr>
          <a:xfrm>
            <a:off x="7470900" y="1256638"/>
            <a:ext cx="3990300" cy="4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25" lIns="238125" spcFirstLastPara="1" rIns="238125" wrap="square" tIns="23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Considerations: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lang="en-US" sz="1100">
                <a:solidFill>
                  <a:schemeClr val="dk1"/>
                </a:solidFill>
              </a:rPr>
              <a:t>The unassisted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zero_shot</a:t>
            </a:r>
            <a:r>
              <a:rPr lang="en-US" sz="1100">
                <a:solidFill>
                  <a:schemeClr val="dk1"/>
                </a:solidFill>
              </a:rPr>
              <a:t> baseline starts at a massive </a:t>
            </a:r>
            <a:r>
              <a:rPr b="1" lang="en-US" sz="1100">
                <a:solidFill>
                  <a:schemeClr val="dk1"/>
                </a:solidFill>
              </a:rPr>
              <a:t>88.6%</a:t>
            </a:r>
            <a:r>
              <a:rPr lang="en-US" sz="1100">
                <a:solidFill>
                  <a:schemeClr val="dk1"/>
                </a:solidFill>
              </a:rPr>
              <a:t>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mbria"/>
              <a:buChar char="●"/>
            </a:pPr>
            <a:r>
              <a:rPr lang="en-US" sz="1100">
                <a:solidFill>
                  <a:schemeClr val="dk1"/>
                </a:solidFill>
              </a:rPr>
              <a:t>The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hybrid:zero_shot</a:t>
            </a:r>
            <a:r>
              <a:rPr lang="en-US" sz="1100">
                <a:solidFill>
                  <a:schemeClr val="dk1"/>
                </a:solidFill>
              </a:rPr>
              <a:t> architecture reaches a near-perfect </a:t>
            </a:r>
            <a:r>
              <a:rPr b="1" lang="en-US" sz="1100">
                <a:solidFill>
                  <a:schemeClr val="dk1"/>
                </a:solidFill>
              </a:rPr>
              <a:t>97.6%</a:t>
            </a:r>
            <a:r>
              <a:rPr lang="en-US" sz="1100">
                <a:solidFill>
                  <a:schemeClr val="dk1"/>
                </a:solidFill>
              </a:rPr>
              <a:t> accuracy.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Few-Shot Penalty:</a:t>
            </a:r>
            <a:r>
              <a:rPr lang="en-US" sz="1100">
                <a:solidFill>
                  <a:schemeClr val="dk1"/>
                </a:solidFill>
              </a:rPr>
              <a:t> Providing examples harms performance (e.g., forcing a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few_shot</a:t>
            </a:r>
            <a:r>
              <a:rPr lang="en-US" sz="1100">
                <a:solidFill>
                  <a:schemeClr val="dk1"/>
                </a:solidFill>
              </a:rPr>
              <a:t> on the hybrid agent drops accuracy to 54%).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Extreme Token Efficiency</a:t>
            </a:r>
            <a:r>
              <a:rPr lang="en-US" sz="1100">
                <a:solidFill>
                  <a:schemeClr val="dk1"/>
                </a:solidFill>
              </a:rPr>
              <a:t> Adding agents does not equate to higher cloud costs. </a:t>
            </a:r>
            <a:r>
              <a:rPr lang="en-US" sz="1100">
                <a:solidFill>
                  <a:srgbClr val="1E40AF"/>
                </a:solidFill>
                <a:latin typeface="Roboto Mono"/>
                <a:ea typeface="Roboto Mono"/>
                <a:cs typeface="Roboto Mono"/>
                <a:sym typeface="Roboto Mono"/>
              </a:rPr>
              <a:t>swarm:cot</a:t>
            </a:r>
            <a:r>
              <a:rPr lang="en-US" sz="1100">
                <a:solidFill>
                  <a:srgbClr val="1E40AF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achieves 96.0% accuracy while consuming </a:t>
            </a:r>
            <a:r>
              <a:rPr i="1" lang="en-US" sz="1100">
                <a:solidFill>
                  <a:schemeClr val="dk1"/>
                </a:solidFill>
              </a:rPr>
              <a:t>fewer</a:t>
            </a:r>
            <a:r>
              <a:rPr lang="en-US" sz="1100">
                <a:solidFill>
                  <a:schemeClr val="dk1"/>
                </a:solidFill>
              </a:rPr>
              <a:t> tokens than the raw baseline (~5575 vs ~6894) 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n-US" sz="1100">
                <a:solidFill>
                  <a:schemeClr val="dk1"/>
                </a:solidFill>
              </a:rPr>
              <a:t>S</a:t>
            </a:r>
            <a:r>
              <a:rPr lang="en-US" sz="1100">
                <a:solidFill>
                  <a:schemeClr val="dk1"/>
                </a:solidFill>
              </a:rPr>
              <a:t>elf-repair patterns destroy the model's native logic, dropping accuracy to ~20-28%.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76" name="Google Shape;376;p26" title="gemma-31b_char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01" y="1397013"/>
            <a:ext cx="6472381" cy="459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6" title="gemma-31b_efficiency_scatt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100" y="1193427"/>
            <a:ext cx="6791690" cy="50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382" name="Google Shape;3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7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5486400" y="292608"/>
            <a:ext cx="621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Previous vs current Gen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387" name="Google Shape;387;p27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>
            <a:off x="821100" y="1962000"/>
            <a:ext cx="35883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In April 2026, the Gemma 4 family was introduced.</a:t>
            </a:r>
            <a:endParaRPr sz="1200">
              <a:solidFill>
                <a:srgbClr val="22222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We tried the best combinations we found in the previous Gen to compare how the new gen would perform:</a:t>
            </a:r>
            <a:endParaRPr/>
          </a:p>
        </p:txBody>
      </p:sp>
      <p:sp>
        <p:nvSpPr>
          <p:cNvPr id="390" name="Google Shape;390;p27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 txBox="1"/>
          <p:nvPr/>
        </p:nvSpPr>
        <p:spPr>
          <a:xfrm>
            <a:off x="365750" y="650319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sp>
        <p:nvSpPr>
          <p:cNvPr id="392" name="Google Shape;392;p27"/>
          <p:cNvSpPr txBox="1"/>
          <p:nvPr/>
        </p:nvSpPr>
        <p:spPr>
          <a:xfrm>
            <a:off x="963450" y="3668525"/>
            <a:ext cx="3489900" cy="129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mbria"/>
              <a:buChar char="●"/>
            </a:pPr>
            <a:r>
              <a:rPr lang="en-US"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US"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Gemma-4 architecture provides extreme performance boosts for the smallest models and the larger models. </a:t>
            </a:r>
            <a:endParaRPr sz="1200">
              <a:solidFill>
                <a:srgbClr val="22222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mbria"/>
              <a:buChar char="●"/>
            </a:pPr>
            <a:r>
              <a:rPr lang="en-US"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However, the Gemma-4-4B model underperforms compared to its predecessor</a:t>
            </a:r>
            <a:endParaRPr sz="1200">
              <a:solidFill>
                <a:srgbClr val="22222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93" name="Google Shape;39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2075" y="1568190"/>
            <a:ext cx="6827199" cy="3982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398" name="Google Shape;3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8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401" name="Google Shape;401;p28"/>
          <p:cNvSpPr txBox="1"/>
          <p:nvPr/>
        </p:nvSpPr>
        <p:spPr>
          <a:xfrm>
            <a:off x="5486400" y="292608"/>
            <a:ext cx="621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Previous vs current Gen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2" name="Google Shape;402;p28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403" name="Google Shape;403;p28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pic>
        <p:nvPicPr>
          <p:cNvPr id="407" name="Google Shape;407;p28" title="compare_gemma-4-4b_vs_gemma-4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000" y="1455725"/>
            <a:ext cx="7806005" cy="446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8" title="compare_gemma-4-26b_vs_gemma-27b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37" y="1779750"/>
            <a:ext cx="8143926" cy="465367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9" name="Google Shape;409;p28" title="compare_gemma-4-2b_vs_gemma-1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50" y="1713725"/>
            <a:ext cx="8054939" cy="460282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8"/>
          <p:cNvSpPr txBox="1"/>
          <p:nvPr/>
        </p:nvSpPr>
        <p:spPr>
          <a:xfrm>
            <a:off x="9026150" y="1501175"/>
            <a:ext cx="2769600" cy="103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Baselines Beating Agents (Small Tier):</a:t>
            </a:r>
            <a:r>
              <a:rPr lang="en-US" sz="1100">
                <a:solidFill>
                  <a:schemeClr val="dk1"/>
                </a:solidFill>
              </a:rPr>
              <a:t> The raw, zero-shot capabilities of the new 2B model easily surpass the absolute highest, most heavily agent-assisted peak of the older 1B version.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9010875" y="2862525"/>
            <a:ext cx="2769600" cy="120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The Efficiency Trap (Mid Tier):</a:t>
            </a:r>
            <a:r>
              <a:rPr lang="en-US" sz="1100">
                <a:solidFill>
                  <a:schemeClr val="dk1"/>
                </a:solidFill>
              </a:rPr>
              <a:t> To compensate for its unexpected regression, the new 4B model is forced to rely on token-expensive multi-agent pipelines just to catch up to the old 4B's standard baseline.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2" name="Google Shape;412;p28"/>
          <p:cNvSpPr txBox="1"/>
          <p:nvPr/>
        </p:nvSpPr>
        <p:spPr>
          <a:xfrm>
            <a:off x="9026150" y="4393075"/>
            <a:ext cx="2769600" cy="136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The Obsolescence of Agents (Large Tier):</a:t>
            </a:r>
            <a:r>
              <a:rPr lang="en-US" sz="1100">
                <a:solidFill>
                  <a:schemeClr val="dk1"/>
                </a:solidFill>
              </a:rPr>
              <a:t> The new 26B model is so inherently capable out-of-the-box (~89% zero-shot accuracy) that it renders complex, expensive multi-agent architectures completely unnecessary for these tasks.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7" name="Google Shape;417;p29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65760" y="228600"/>
            <a:ext cx="7020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9"/>
          <p:cNvSpPr txBox="1"/>
          <p:nvPr/>
        </p:nvSpPr>
        <p:spPr>
          <a:xfrm>
            <a:off x="1097280" y="292418"/>
            <a:ext cx="411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DI TORINO</a:t>
            </a:r>
            <a:endParaRPr b="1" sz="11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1097280" y="566738"/>
            <a:ext cx="502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· Group Project</a:t>
            </a:r>
            <a:endParaRPr b="0" i="1" sz="9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0" name="Google Shape;420;p29"/>
          <p:cNvSpPr txBox="1"/>
          <p:nvPr/>
        </p:nvSpPr>
        <p:spPr>
          <a:xfrm>
            <a:off x="5486400" y="292418"/>
            <a:ext cx="621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Model Evolution: Gen 3 vs. Gen 4</a:t>
            </a:r>
            <a:endParaRPr b="1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365760" y="960120"/>
            <a:ext cx="11430000" cy="11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365760" y="982980"/>
            <a:ext cx="11430000" cy="5700"/>
          </a:xfrm>
          <a:prstGeom prst="rect">
            <a:avLst/>
          </a:prstGeom>
          <a:solidFill>
            <a:srgbClr val="A88B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868680" y="1173480"/>
            <a:ext cx="108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Key Insights: Comparative Analysis of Generational Leap</a:t>
            </a:r>
            <a:endParaRPr b="1" sz="14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424" name="Google Shape;424;p29"/>
          <p:cNvGrpSpPr/>
          <p:nvPr/>
        </p:nvGrpSpPr>
        <p:grpSpPr>
          <a:xfrm>
            <a:off x="866775" y="1714500"/>
            <a:ext cx="3429000" cy="2095500"/>
            <a:chOff x="0" y="0"/>
            <a:chExt cx="3429000" cy="2095500"/>
          </a:xfrm>
        </p:grpSpPr>
        <p:sp>
          <p:nvSpPr>
            <p:cNvPr id="425" name="Google Shape;425;p29"/>
            <p:cNvSpPr/>
            <p:nvPr/>
          </p:nvSpPr>
          <p:spPr>
            <a:xfrm>
              <a:off x="0" y="0"/>
              <a:ext cx="3429000" cy="2095500"/>
            </a:xfrm>
            <a:prstGeom prst="roundRect">
              <a:avLst>
                <a:gd fmla="val 4545" name="adj"/>
              </a:avLst>
            </a:prstGeom>
            <a:solidFill>
              <a:srgbClr val="F0FDF4"/>
            </a:solidFill>
            <a:ln cap="flat" cmpd="sng" w="9525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142875" y="142875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9"/>
            <p:cNvSpPr txBox="1"/>
            <p:nvPr/>
          </p:nvSpPr>
          <p:spPr>
            <a:xfrm>
              <a:off x="142875" y="1428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Breakthrough</a:t>
              </a:r>
              <a:endParaRPr b="1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428" name="Google Shape;428;p29"/>
            <p:cNvSpPr txBox="1"/>
            <p:nvPr/>
          </p:nvSpPr>
          <p:spPr>
            <a:xfrm>
              <a:off x="190500" y="476250"/>
              <a:ext cx="304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2B vs. 1B</a:t>
              </a:r>
              <a:endParaRPr b="1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0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Massive performance jump (+366%).</a:t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Expected since we double the size</a:t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429" name="Google Shape;429;p29"/>
          <p:cNvGrpSpPr/>
          <p:nvPr/>
        </p:nvGrpSpPr>
        <p:grpSpPr>
          <a:xfrm>
            <a:off x="4381500" y="1714500"/>
            <a:ext cx="3429000" cy="2095500"/>
            <a:chOff x="0" y="0"/>
            <a:chExt cx="3429000" cy="2095500"/>
          </a:xfrm>
        </p:grpSpPr>
        <p:sp>
          <p:nvSpPr>
            <p:cNvPr id="430" name="Google Shape;430;p29"/>
            <p:cNvSpPr/>
            <p:nvPr/>
          </p:nvSpPr>
          <p:spPr>
            <a:xfrm>
              <a:off x="0" y="0"/>
              <a:ext cx="3429000" cy="2095500"/>
            </a:xfrm>
            <a:prstGeom prst="roundRect">
              <a:avLst>
                <a:gd fmla="val 4545" name="adj"/>
              </a:avLst>
            </a:prstGeom>
            <a:solidFill>
              <a:srgbClr val="FFF1F2"/>
            </a:solidFill>
            <a:ln cap="flat" cmpd="sng" w="9525">
              <a:solidFill>
                <a:srgbClr val="FEC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42875" y="142875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9"/>
            <p:cNvSpPr txBox="1"/>
            <p:nvPr/>
          </p:nvSpPr>
          <p:spPr>
            <a:xfrm>
              <a:off x="142875" y="1428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Disappointment</a:t>
              </a:r>
              <a:endParaRPr b="1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433" name="Google Shape;433;p29"/>
            <p:cNvSpPr txBox="1"/>
            <p:nvPr/>
          </p:nvSpPr>
          <p:spPr>
            <a:xfrm>
              <a:off x="190500" y="476250"/>
              <a:ext cx="304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4B vs. 4B</a:t>
              </a:r>
              <a:endParaRPr b="1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0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Global performance drop (-27%).</a:t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0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Extreme prompt fragility: High-density models suffer "structural collapse".</a:t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434" name="Google Shape;434;p29"/>
          <p:cNvGrpSpPr/>
          <p:nvPr/>
        </p:nvGrpSpPr>
        <p:grpSpPr>
          <a:xfrm>
            <a:off x="7896225" y="1714500"/>
            <a:ext cx="3429000" cy="2095500"/>
            <a:chOff x="0" y="0"/>
            <a:chExt cx="3429000" cy="2095500"/>
          </a:xfrm>
        </p:grpSpPr>
        <p:sp>
          <p:nvSpPr>
            <p:cNvPr id="435" name="Google Shape;435;p29"/>
            <p:cNvSpPr/>
            <p:nvPr/>
          </p:nvSpPr>
          <p:spPr>
            <a:xfrm>
              <a:off x="0" y="0"/>
              <a:ext cx="3429000" cy="2095500"/>
            </a:xfrm>
            <a:prstGeom prst="roundRect">
              <a:avLst>
                <a:gd fmla="val 4545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142875" y="142875"/>
              <a:ext cx="1047900" cy="2286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 txBox="1"/>
            <p:nvPr/>
          </p:nvSpPr>
          <p:spPr>
            <a:xfrm>
              <a:off x="142875" y="1428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Efficiency Gap</a:t>
              </a:r>
              <a:endParaRPr b="1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438" name="Google Shape;438;p29"/>
            <p:cNvSpPr txBox="1"/>
            <p:nvPr/>
          </p:nvSpPr>
          <p:spPr>
            <a:xfrm>
              <a:off x="190500" y="476250"/>
              <a:ext cx="304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26B vs. 27B</a:t>
              </a:r>
              <a:endParaRPr b="1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0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Superior raw performance but extremely inefficient.</a:t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0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Gen 4 consumes ~11x more tokens due to reasoning overhead.</a:t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439" name="Google Shape;439;p29"/>
          <p:cNvGrpSpPr/>
          <p:nvPr/>
        </p:nvGrpSpPr>
        <p:grpSpPr>
          <a:xfrm>
            <a:off x="866775" y="4000500"/>
            <a:ext cx="10458600" cy="1333500"/>
            <a:chOff x="0" y="0"/>
            <a:chExt cx="10458600" cy="1333500"/>
          </a:xfrm>
        </p:grpSpPr>
        <p:sp>
          <p:nvSpPr>
            <p:cNvPr id="440" name="Google Shape;440;p29"/>
            <p:cNvSpPr/>
            <p:nvPr/>
          </p:nvSpPr>
          <p:spPr>
            <a:xfrm>
              <a:off x="0" y="0"/>
              <a:ext cx="10458600" cy="1333500"/>
            </a:xfrm>
            <a:prstGeom prst="roundRect">
              <a:avLst>
                <a:gd fmla="val 7142" name="adj"/>
              </a:avLst>
            </a:prstGeom>
            <a:solidFill>
              <a:srgbClr val="E0F2FE"/>
            </a:solidFill>
            <a:ln cap="flat" cmpd="sng" w="9525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9"/>
            <p:cNvSpPr txBox="1"/>
            <p:nvPr/>
          </p:nvSpPr>
          <p:spPr>
            <a:xfrm>
              <a:off x="285750" y="190500"/>
              <a:ext cx="9887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369A1"/>
                  </a:solidFill>
                  <a:latin typeface="Cambria"/>
                  <a:ea typeface="Cambria"/>
                  <a:cs typeface="Cambria"/>
                  <a:sym typeface="Cambria"/>
                </a:rPr>
                <a:t>Final Verdict</a:t>
              </a:r>
              <a:endParaRPr b="1" sz="1300">
                <a:solidFill>
                  <a:srgbClr val="0369A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0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Gen 4 models are overall smarter but more "capricious" 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(more sensitive to architecture) </a:t>
              </a:r>
              <a:r>
                <a:rPr b="0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and expensive.</a:t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45720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t/>
              </a:r>
              <a:endParaRPr b="0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442" name="Google Shape;442;p29"/>
          <p:cNvSpPr/>
          <p:nvPr/>
        </p:nvSpPr>
        <p:spPr>
          <a:xfrm>
            <a:off x="365760" y="6400800"/>
            <a:ext cx="11430000" cy="75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9"/>
          <p:cNvSpPr txBox="1"/>
          <p:nvPr/>
        </p:nvSpPr>
        <p:spPr>
          <a:xfrm>
            <a:off x="457200" y="6492240"/>
            <a:ext cx="1124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· Large Language Models for Software Engineering · 2025 / 2026</a:t>
            </a:r>
            <a:endParaRPr b="0" i="1" sz="9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449" name="Google Shape;4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0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451" name="Google Shape;451;p30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452" name="Google Shape;452;p30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Best Configurations — Cross-Model</a:t>
            </a:r>
            <a:endParaRPr/>
          </a:p>
        </p:txBody>
      </p:sp>
      <p:sp>
        <p:nvSpPr>
          <p:cNvPr id="453" name="Google Shape;453;p30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17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454" name="Google Shape;454;p30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458" name="Google Shape;458;p30"/>
          <p:cNvGrpSpPr/>
          <p:nvPr/>
        </p:nvGrpSpPr>
        <p:grpSpPr>
          <a:xfrm>
            <a:off x="457200" y="1238250"/>
            <a:ext cx="4191000" cy="4810050"/>
            <a:chOff x="457200" y="1238250"/>
            <a:chExt cx="4191000" cy="4810050"/>
          </a:xfrm>
        </p:grpSpPr>
        <p:grpSp>
          <p:nvGrpSpPr>
            <p:cNvPr id="459" name="Google Shape;459;p30"/>
            <p:cNvGrpSpPr/>
            <p:nvPr/>
          </p:nvGrpSpPr>
          <p:grpSpPr>
            <a:xfrm>
              <a:off x="457200" y="1238250"/>
              <a:ext cx="4191000" cy="1095300"/>
              <a:chOff x="457200" y="1238250"/>
              <a:chExt cx="4191000" cy="1095300"/>
            </a:xfrm>
          </p:grpSpPr>
          <p:sp>
            <p:nvSpPr>
              <p:cNvPr id="460" name="Google Shape;460;p30"/>
              <p:cNvSpPr/>
              <p:nvPr/>
            </p:nvSpPr>
            <p:spPr>
              <a:xfrm>
                <a:off x="457200" y="1238250"/>
                <a:ext cx="4191000" cy="1095300"/>
              </a:xfrm>
              <a:prstGeom prst="roundRect">
                <a:avLst>
                  <a:gd fmla="val 86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30"/>
              <p:cNvSpPr txBox="1"/>
              <p:nvPr/>
            </p:nvSpPr>
            <p:spPr>
              <a:xfrm>
                <a:off x="552450" y="1285875"/>
                <a:ext cx="4000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2B5C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PassRate</a:t>
                </a:r>
                <a:r>
                  <a:rPr b="1" lang="en-US" sz="1300">
                    <a:solidFill>
                      <a:srgbClr val="002B5C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Optimization</a:t>
                </a:r>
                <a:endParaRPr b="1" sz="13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The smallest models show the biggest margin for improvement.</a:t>
                </a:r>
                <a:endParaRPr b="0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462" name="Google Shape;462;p30"/>
            <p:cNvGrpSpPr/>
            <p:nvPr/>
          </p:nvGrpSpPr>
          <p:grpSpPr>
            <a:xfrm>
              <a:off x="457200" y="2476500"/>
              <a:ext cx="4191000" cy="1095300"/>
              <a:chOff x="457200" y="2476500"/>
              <a:chExt cx="4191000" cy="1095300"/>
            </a:xfrm>
          </p:grpSpPr>
          <p:sp>
            <p:nvSpPr>
              <p:cNvPr id="463" name="Google Shape;463;p30"/>
              <p:cNvSpPr/>
              <p:nvPr/>
            </p:nvSpPr>
            <p:spPr>
              <a:xfrm>
                <a:off x="457200" y="2476500"/>
                <a:ext cx="4191000" cy="1095300"/>
              </a:xfrm>
              <a:prstGeom prst="roundRect">
                <a:avLst>
                  <a:gd fmla="val 86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30"/>
              <p:cNvSpPr txBox="1"/>
              <p:nvPr/>
            </p:nvSpPr>
            <p:spPr>
              <a:xfrm>
                <a:off x="552450" y="2524125"/>
                <a:ext cx="4000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2B5C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Token Efficiency Leaders</a:t>
                </a:r>
                <a:endParaRPr b="1" sz="13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Adversarial and SOA, despite not being the strongest in terms of </a:t>
                </a:r>
                <a:r>
                  <a:rPr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Pass Rate/Tokens</a:t>
                </a:r>
                <a:r>
                  <a:rPr b="0"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.</a:t>
                </a:r>
                <a:endParaRPr b="0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465" name="Google Shape;465;p30"/>
            <p:cNvGrpSpPr/>
            <p:nvPr/>
          </p:nvGrpSpPr>
          <p:grpSpPr>
            <a:xfrm>
              <a:off x="457200" y="3714750"/>
              <a:ext cx="4191000" cy="1095300"/>
              <a:chOff x="457200" y="3714750"/>
              <a:chExt cx="4191000" cy="1095300"/>
            </a:xfrm>
          </p:grpSpPr>
          <p:sp>
            <p:nvSpPr>
              <p:cNvPr id="466" name="Google Shape;466;p30"/>
              <p:cNvSpPr/>
              <p:nvPr/>
            </p:nvSpPr>
            <p:spPr>
              <a:xfrm>
                <a:off x="457200" y="3714750"/>
                <a:ext cx="4191000" cy="1095300"/>
              </a:xfrm>
              <a:prstGeom prst="roundRect">
                <a:avLst>
                  <a:gd fmla="val 86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30"/>
              <p:cNvSpPr txBox="1"/>
              <p:nvPr/>
            </p:nvSpPr>
            <p:spPr>
              <a:xfrm>
                <a:off x="552450" y="3762375"/>
                <a:ext cx="4000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2B5C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Line Coverage Maxima</a:t>
                </a:r>
                <a:endParaRPr b="1" sz="13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Hybrid architectures reach peak levels (up to 99.9% on Gemma-31B), proving multi-agent verification is key.</a:t>
                </a:r>
                <a:endParaRPr b="0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468" name="Google Shape;468;p30"/>
            <p:cNvGrpSpPr/>
            <p:nvPr/>
          </p:nvGrpSpPr>
          <p:grpSpPr>
            <a:xfrm>
              <a:off x="457200" y="4953000"/>
              <a:ext cx="4191000" cy="1095300"/>
              <a:chOff x="457200" y="4953000"/>
              <a:chExt cx="4191000" cy="1095300"/>
            </a:xfrm>
          </p:grpSpPr>
          <p:sp>
            <p:nvSpPr>
              <p:cNvPr id="469" name="Google Shape;469;p30"/>
              <p:cNvSpPr/>
              <p:nvPr/>
            </p:nvSpPr>
            <p:spPr>
              <a:xfrm>
                <a:off x="457200" y="4953000"/>
                <a:ext cx="4191000" cy="1095300"/>
              </a:xfrm>
              <a:prstGeom prst="roundRect">
                <a:avLst>
                  <a:gd fmla="val 8695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30"/>
              <p:cNvSpPr txBox="1"/>
              <p:nvPr/>
            </p:nvSpPr>
            <p:spPr>
              <a:xfrm>
                <a:off x="552450" y="5000625"/>
                <a:ext cx="4000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369A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Maintainability Gains</a:t>
                </a:r>
                <a:endParaRPr b="1" sz="1300">
                  <a:solidFill>
                    <a:srgbClr val="0369A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Complex agents like Consensus or Atomic Swarm show the biggest improvement for MI, leading to modular code.</a:t>
                </a:r>
                <a:endParaRPr b="0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</p:grpSp>
      <p:pic>
        <p:nvPicPr>
          <p:cNvPr id="471" name="Google Shape;47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600" y="1140780"/>
            <a:ext cx="6814597" cy="510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476" name="Google Shape;47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1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478" name="Google Shape;478;p31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479" name="Google Shape;479;p31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Worst Configurations &amp; Failure Modes</a:t>
            </a:r>
            <a:endParaRPr/>
          </a:p>
        </p:txBody>
      </p:sp>
      <p:sp>
        <p:nvSpPr>
          <p:cNvPr id="480" name="Google Shape;480;p31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481" name="Google Shape;481;p31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1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1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485" name="Google Shape;485;p31"/>
          <p:cNvGrpSpPr/>
          <p:nvPr/>
        </p:nvGrpSpPr>
        <p:grpSpPr>
          <a:xfrm>
            <a:off x="457200" y="1333500"/>
            <a:ext cx="5715000" cy="4762500"/>
            <a:chOff x="457200" y="1333500"/>
            <a:chExt cx="5715000" cy="4762500"/>
          </a:xfrm>
        </p:grpSpPr>
        <p:grpSp>
          <p:nvGrpSpPr>
            <p:cNvPr id="486" name="Google Shape;486;p31"/>
            <p:cNvGrpSpPr/>
            <p:nvPr/>
          </p:nvGrpSpPr>
          <p:grpSpPr>
            <a:xfrm>
              <a:off x="457200" y="1333500"/>
              <a:ext cx="5715000" cy="904800"/>
              <a:chOff x="457200" y="1333500"/>
              <a:chExt cx="5715000" cy="904800"/>
            </a:xfrm>
          </p:grpSpPr>
          <p:sp>
            <p:nvSpPr>
              <p:cNvPr id="487" name="Google Shape;487;p31"/>
              <p:cNvSpPr/>
              <p:nvPr/>
            </p:nvSpPr>
            <p:spPr>
              <a:xfrm>
                <a:off x="457200" y="1333500"/>
                <a:ext cx="5715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31"/>
              <p:cNvSpPr txBox="1"/>
              <p:nvPr/>
            </p:nvSpPr>
            <p:spPr>
              <a:xfrm>
                <a:off x="552450" y="1381125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E11D48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Efficiency Collapse</a:t>
                </a:r>
                <a:endParaRPr b="1" sz="1300">
                  <a:solidFill>
                    <a:srgbClr val="E11D48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Using complex agents (Consensus/Swarm) in Zero-Shot mode results in an efficiency drop of &gt;85%.</a:t>
                </a:r>
                <a:endParaRPr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489" name="Google Shape;489;p31"/>
            <p:cNvGrpSpPr/>
            <p:nvPr/>
          </p:nvGrpSpPr>
          <p:grpSpPr>
            <a:xfrm>
              <a:off x="457200" y="2333625"/>
              <a:ext cx="5715000" cy="904800"/>
              <a:chOff x="457200" y="2333625"/>
              <a:chExt cx="5715000" cy="904800"/>
            </a:xfrm>
          </p:grpSpPr>
          <p:sp>
            <p:nvSpPr>
              <p:cNvPr id="490" name="Google Shape;490;p31"/>
              <p:cNvSpPr/>
              <p:nvPr/>
            </p:nvSpPr>
            <p:spPr>
              <a:xfrm>
                <a:off x="457200" y="2333625"/>
                <a:ext cx="5715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1"/>
              <p:cNvSpPr txBox="1"/>
              <p:nvPr/>
            </p:nvSpPr>
            <p:spPr>
              <a:xfrm>
                <a:off x="552450" y="2381250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6A34A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PassRate</a:t>
                </a:r>
                <a:r>
                  <a:rPr b="1" lang="en-US" sz="1300">
                    <a:solidFill>
                      <a:srgbClr val="16A34A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Degradation</a:t>
                </a:r>
                <a:endParaRPr b="1" sz="1300">
                  <a:solidFill>
                    <a:srgbClr val="16A34A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Small models (1B) in high-overhead architectures without Few-Shot support can reduce PassRate  by 65%.</a:t>
                </a:r>
                <a:endParaRPr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492" name="Google Shape;492;p31"/>
            <p:cNvGrpSpPr/>
            <p:nvPr/>
          </p:nvGrpSpPr>
          <p:grpSpPr>
            <a:xfrm>
              <a:off x="457200" y="3333750"/>
              <a:ext cx="5715000" cy="904800"/>
              <a:chOff x="457200" y="3333750"/>
              <a:chExt cx="5715000" cy="904800"/>
            </a:xfrm>
          </p:grpSpPr>
          <p:sp>
            <p:nvSpPr>
              <p:cNvPr id="493" name="Google Shape;493;p31"/>
              <p:cNvSpPr/>
              <p:nvPr/>
            </p:nvSpPr>
            <p:spPr>
              <a:xfrm>
                <a:off x="457200" y="3333750"/>
                <a:ext cx="5715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31"/>
              <p:cNvSpPr txBox="1"/>
              <p:nvPr/>
            </p:nvSpPr>
            <p:spPr>
              <a:xfrm>
                <a:off x="552450" y="3381375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Maintainability Pitfalls</a:t>
                </a:r>
                <a:endParaRPr b="1" sz="1300">
                  <a:solidFill>
                    <a:srgbClr val="2563EB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Swarm + COT reduces Maintainability Index by up to 37% due to over-engineered logic.</a:t>
                </a:r>
                <a:endParaRPr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495" name="Google Shape;495;p31"/>
            <p:cNvGrpSpPr/>
            <p:nvPr/>
          </p:nvGrpSpPr>
          <p:grpSpPr>
            <a:xfrm>
              <a:off x="457200" y="4333875"/>
              <a:ext cx="5715000" cy="904800"/>
              <a:chOff x="457200" y="4333875"/>
              <a:chExt cx="5715000" cy="904800"/>
            </a:xfrm>
          </p:grpSpPr>
          <p:sp>
            <p:nvSpPr>
              <p:cNvPr id="496" name="Google Shape;496;p31"/>
              <p:cNvSpPr/>
              <p:nvPr/>
            </p:nvSpPr>
            <p:spPr>
              <a:xfrm>
                <a:off x="457200" y="4333875"/>
                <a:ext cx="5715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31"/>
              <p:cNvSpPr txBox="1"/>
              <p:nvPr/>
            </p:nvSpPr>
            <p:spPr>
              <a:xfrm>
                <a:off x="552450" y="4381500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75569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Architecture Overkill</a:t>
                </a:r>
                <a:endParaRPr b="1" sz="1300">
                  <a:solidFill>
                    <a:srgbClr val="475569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 "Complexity Penalty" occurs where multi-call overhead becomes a liability without sufficient model capacity.</a:t>
                </a:r>
                <a:endParaRPr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498" name="Google Shape;498;p31"/>
            <p:cNvGrpSpPr/>
            <p:nvPr/>
          </p:nvGrpSpPr>
          <p:grpSpPr>
            <a:xfrm>
              <a:off x="457200" y="5334000"/>
              <a:ext cx="5715000" cy="762000"/>
              <a:chOff x="457200" y="5334000"/>
              <a:chExt cx="5715000" cy="762000"/>
            </a:xfrm>
          </p:grpSpPr>
          <p:sp>
            <p:nvSpPr>
              <p:cNvPr id="499" name="Google Shape;499;p31"/>
              <p:cNvSpPr/>
              <p:nvPr/>
            </p:nvSpPr>
            <p:spPr>
              <a:xfrm>
                <a:off x="457200" y="5334000"/>
                <a:ext cx="57150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0EA5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31"/>
              <p:cNvSpPr txBox="1"/>
              <p:nvPr/>
            </p:nvSpPr>
            <p:spPr>
              <a:xfrm>
                <a:off x="552450" y="5381625"/>
                <a:ext cx="5524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369A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Decoupled Quality</a:t>
                </a:r>
                <a:endParaRPr b="1" sz="1300">
                  <a:solidFill>
                    <a:srgbClr val="0369A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MI evaluates code structure rather than execution, making it less sensitive to logic errors.</a:t>
                </a:r>
                <a:endParaRPr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</p:grpSp>
      <p:pic>
        <p:nvPicPr>
          <p:cNvPr id="501" name="Google Shape;50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4600" y="1140780"/>
            <a:ext cx="5714673" cy="4283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506" name="Google Shape;50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20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2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508" name="Google Shape;508;p32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509" name="Google Shape;509;p32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19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510" name="Google Shape;510;p32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sp>
        <p:nvSpPr>
          <p:cNvPr id="514" name="Google Shape;514;p32"/>
          <p:cNvSpPr txBox="1"/>
          <p:nvPr/>
        </p:nvSpPr>
        <p:spPr>
          <a:xfrm>
            <a:off x="5486400" y="292608"/>
            <a:ext cx="62178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525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Metrics — </a:t>
            </a:r>
            <a:r>
              <a:rPr b="1" lang="en-US" sz="2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Pass Rate</a:t>
            </a:r>
            <a:endParaRPr b="1" i="0" sz="26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515" name="Google Shape;515;p32"/>
          <p:cNvGrpSpPr/>
          <p:nvPr/>
        </p:nvGrpSpPr>
        <p:grpSpPr>
          <a:xfrm>
            <a:off x="365760" y="1143000"/>
            <a:ext cx="11430000" cy="5143575"/>
            <a:chOff x="365760" y="1143000"/>
            <a:chExt cx="11430000" cy="5143575"/>
          </a:xfrm>
        </p:grpSpPr>
        <p:grpSp>
          <p:nvGrpSpPr>
            <p:cNvPr id="516" name="Google Shape;516;p32"/>
            <p:cNvGrpSpPr/>
            <p:nvPr/>
          </p:nvGrpSpPr>
          <p:grpSpPr>
            <a:xfrm>
              <a:off x="365760" y="1143000"/>
              <a:ext cx="11430000" cy="76350"/>
              <a:chOff x="365760" y="1143000"/>
              <a:chExt cx="11430000" cy="76350"/>
            </a:xfrm>
          </p:grpSpPr>
          <p:sp>
            <p:nvSpPr>
              <p:cNvPr id="517" name="Google Shape;517;p32"/>
              <p:cNvSpPr/>
              <p:nvPr/>
            </p:nvSpPr>
            <p:spPr>
              <a:xfrm>
                <a:off x="365760" y="1143000"/>
                <a:ext cx="11430000" cy="38100"/>
              </a:xfrm>
              <a:prstGeom prst="rect">
                <a:avLst/>
              </a:prstGeom>
              <a:solidFill>
                <a:srgbClr val="002B5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32"/>
              <p:cNvSpPr/>
              <p:nvPr/>
            </p:nvSpPr>
            <p:spPr>
              <a:xfrm>
                <a:off x="365760" y="1200150"/>
                <a:ext cx="11430000" cy="19200"/>
              </a:xfrm>
              <a:prstGeom prst="rect">
                <a:avLst/>
              </a:prstGeom>
              <a:solidFill>
                <a:srgbClr val="A88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9" name="Google Shape;519;p32"/>
            <p:cNvGrpSpPr/>
            <p:nvPr/>
          </p:nvGrpSpPr>
          <p:grpSpPr>
            <a:xfrm>
              <a:off x="457200" y="1381125"/>
              <a:ext cx="11087100" cy="1230675"/>
              <a:chOff x="457200" y="1381125"/>
              <a:chExt cx="11087100" cy="1230675"/>
            </a:xfrm>
          </p:grpSpPr>
          <p:sp>
            <p:nvSpPr>
              <p:cNvPr id="520" name="Google Shape;520;p32"/>
              <p:cNvSpPr/>
              <p:nvPr/>
            </p:nvSpPr>
            <p:spPr>
              <a:xfrm>
                <a:off x="457200" y="1381125"/>
                <a:ext cx="5486400" cy="1230600"/>
              </a:xfrm>
              <a:prstGeom prst="roundRect">
                <a:avLst>
                  <a:gd fmla="val 6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32"/>
              <p:cNvSpPr txBox="1"/>
              <p:nvPr/>
            </p:nvSpPr>
            <p:spPr>
              <a:xfrm>
                <a:off x="647700" y="1524000"/>
                <a:ext cx="5105400" cy="108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2B5C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Definition and Formula</a:t>
                </a:r>
                <a:endParaRPr b="1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Cambria"/>
                  <a:buChar char="●"/>
                </a:pPr>
                <a:r>
                  <a:rPr b="1"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Definition:</a:t>
                </a:r>
                <a:r>
                  <a:rPr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Fraction of EvalPlus tests passed per task.</a:t>
                </a:r>
                <a:endParaRPr sz="1100">
                  <a:solidFill>
                    <a:srgbClr val="334155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984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Cambria"/>
                  <a:buChar char="●"/>
                </a:pPr>
                <a:r>
                  <a:rPr b="1"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Formula:</a:t>
                </a:r>
                <a:r>
                  <a:rPr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PR = passed_tests / total_tests</a:t>
                </a:r>
                <a:endParaRPr sz="1100">
                  <a:solidFill>
                    <a:srgbClr val="334155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984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Cambria"/>
                  <a:buChar char="●"/>
                </a:pPr>
                <a:r>
                  <a:rPr b="1"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Advantage:</a:t>
                </a:r>
                <a:r>
                  <a:rPr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Catches edge cases that memorized solutions miss.</a:t>
                </a:r>
                <a:endParaRPr sz="1100">
                  <a:solidFill>
                    <a:srgbClr val="334155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522" name="Google Shape;522;p32"/>
              <p:cNvSpPr/>
              <p:nvPr/>
            </p:nvSpPr>
            <p:spPr>
              <a:xfrm>
                <a:off x="6248400" y="1381125"/>
                <a:ext cx="5295900" cy="1230600"/>
              </a:xfrm>
              <a:prstGeom prst="roundRect">
                <a:avLst>
                  <a:gd fmla="val 6000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32"/>
              <p:cNvSpPr txBox="1"/>
              <p:nvPr/>
            </p:nvSpPr>
            <p:spPr>
              <a:xfrm>
                <a:off x="6438900" y="1524000"/>
                <a:ext cx="4585800" cy="108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369A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Interpretation and Thresholds</a:t>
                </a:r>
                <a:endParaRPr b="1" sz="1600">
                  <a:solidFill>
                    <a:srgbClr val="0369A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Cambria"/>
                  <a:buChar char="●"/>
                </a:pPr>
                <a:r>
                  <a:rPr b="1"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&gt; 0.80:</a:t>
                </a:r>
                <a:r>
                  <a:rPr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"Production-viable" threshold.</a:t>
                </a:r>
                <a:endParaRPr sz="1100">
                  <a:solidFill>
                    <a:srgbClr val="334155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984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Cambria"/>
                  <a:buChar char="●"/>
                </a:pPr>
                <a:r>
                  <a:rPr b="1"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&lt; 0.40:</a:t>
                </a:r>
                <a:r>
                  <a:rPr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"Unreliable, reject".</a:t>
                </a:r>
                <a:endParaRPr sz="1100">
                  <a:solidFill>
                    <a:srgbClr val="334155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98450" lvl="0" marL="457200" rtl="0" algn="l">
                  <a:spcBef>
                    <a:spcPts val="400"/>
                  </a:spcBef>
                  <a:spcAft>
                    <a:spcPts val="400"/>
                  </a:spcAft>
                  <a:buClr>
                    <a:srgbClr val="334155"/>
                  </a:buClr>
                  <a:buSzPts val="1100"/>
                  <a:buFont typeface="Cambria"/>
                  <a:buChar char="●"/>
                </a:pPr>
                <a:r>
                  <a:rPr b="1"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Primary Metric </a:t>
                </a:r>
                <a:r>
                  <a:rPr lang="en-US" sz="1100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for this study</a:t>
                </a:r>
                <a:endParaRPr sz="1100">
                  <a:solidFill>
                    <a:srgbClr val="334155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524" name="Google Shape;524;p32"/>
            <p:cNvGrpSpPr/>
            <p:nvPr/>
          </p:nvGrpSpPr>
          <p:grpSpPr>
            <a:xfrm>
              <a:off x="457200" y="5857875"/>
              <a:ext cx="11277600" cy="428700"/>
              <a:chOff x="457200" y="5857875"/>
              <a:chExt cx="11277600" cy="428700"/>
            </a:xfrm>
          </p:grpSpPr>
          <p:sp>
            <p:nvSpPr>
              <p:cNvPr id="525" name="Google Shape;525;p32"/>
              <p:cNvSpPr/>
              <p:nvPr/>
            </p:nvSpPr>
            <p:spPr>
              <a:xfrm>
                <a:off x="457200" y="5857875"/>
                <a:ext cx="11277600" cy="428700"/>
              </a:xfrm>
              <a:prstGeom prst="roundRect">
                <a:avLst>
                  <a:gd fmla="val 17777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32"/>
              <p:cNvSpPr txBox="1"/>
              <p:nvPr/>
            </p:nvSpPr>
            <p:spPr>
              <a:xfrm>
                <a:off x="647700" y="5857875"/>
                <a:ext cx="108966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9F1239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Limitations:</a:t>
                </a:r>
                <a:r>
                  <a:rPr lang="en-US" sz="1100">
                    <a:solidFill>
                      <a:srgbClr val="9F1239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Measures test  behavior, not code quality. Test-suite may miss adversarial inputs. Bimodal distribution.</a:t>
                </a:r>
                <a:endParaRPr sz="1100">
                  <a:solidFill>
                    <a:srgbClr val="9F1239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</p:grpSp>
      <p:grpSp>
        <p:nvGrpSpPr>
          <p:cNvPr id="527" name="Google Shape;527;p32"/>
          <p:cNvGrpSpPr/>
          <p:nvPr/>
        </p:nvGrpSpPr>
        <p:grpSpPr>
          <a:xfrm>
            <a:off x="457200" y="5362626"/>
            <a:ext cx="11277600" cy="400207"/>
            <a:chOff x="457200" y="5095875"/>
            <a:chExt cx="11277600" cy="666900"/>
          </a:xfrm>
        </p:grpSpPr>
        <p:sp>
          <p:nvSpPr>
            <p:cNvPr id="528" name="Google Shape;528;p32"/>
            <p:cNvSpPr/>
            <p:nvPr/>
          </p:nvSpPr>
          <p:spPr>
            <a:xfrm>
              <a:off x="457200" y="5095875"/>
              <a:ext cx="11277600" cy="666900"/>
            </a:xfrm>
            <a:prstGeom prst="roundRect">
              <a:avLst>
                <a:gd fmla="val 11428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2"/>
            <p:cNvSpPr txBox="1"/>
            <p:nvPr/>
          </p:nvSpPr>
          <p:spPr>
            <a:xfrm>
              <a:off x="647700" y="5095875"/>
              <a:ext cx="10896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Cambria"/>
                  <a:ea typeface="Cambria"/>
                  <a:cs typeface="Cambria"/>
                  <a:sym typeface="Cambria"/>
                </a:rPr>
                <a:t>Observation: </a:t>
              </a:r>
              <a:r>
                <a:rPr b="0" lang="en-US" sz="1100">
                  <a:solidFill>
                    <a:srgbClr val="1E40AF"/>
                  </a:solidFill>
                  <a:latin typeface="Cambria"/>
                  <a:ea typeface="Cambria"/>
                  <a:cs typeface="Cambria"/>
                  <a:sym typeface="Cambria"/>
                </a:rPr>
                <a:t>While low bloat (concise code) is usually preferred, here </a:t>
              </a:r>
              <a:r>
                <a:rPr b="1" lang="en-US" sz="1100">
                  <a:solidFill>
                    <a:srgbClr val="111827"/>
                  </a:solidFill>
                  <a:latin typeface="Cambria"/>
                  <a:ea typeface="Cambria"/>
                  <a:cs typeface="Cambria"/>
                  <a:sym typeface="Cambria"/>
                </a:rPr>
                <a:t>PassRate</a:t>
              </a:r>
              <a:r>
                <a:rPr b="1" lang="en-US" sz="1100">
                  <a:solidFill>
                    <a:srgbClr val="111827"/>
                  </a:solidFill>
                  <a:latin typeface="Cambria"/>
                  <a:ea typeface="Cambria"/>
                  <a:cs typeface="Cambria"/>
                  <a:sym typeface="Cambria"/>
                </a:rPr>
                <a:t> correlates with high bloat</a:t>
              </a:r>
              <a:r>
                <a:rPr b="0" lang="en-US" sz="1100">
                  <a:solidFill>
                    <a:srgbClr val="1E40AF"/>
                  </a:solidFill>
                  <a:latin typeface="Cambria"/>
                  <a:ea typeface="Cambria"/>
                  <a:cs typeface="Cambria"/>
                  <a:sym typeface="Cambria"/>
                </a:rPr>
                <a:t>.</a:t>
              </a:r>
              <a:endParaRPr b="1" sz="1100">
                <a:solidFill>
                  <a:srgbClr val="1E40A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pic>
        <p:nvPicPr>
          <p:cNvPr id="530" name="Google Shape;53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0250" y="2839925"/>
            <a:ext cx="2980849" cy="23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1449" y="2752600"/>
            <a:ext cx="2980849" cy="2384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536" name="Google Shape;53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20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3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538" name="Google Shape;538;p33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539" name="Google Shape;539;p33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540" name="Google Shape;540;p33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3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sp>
        <p:nvSpPr>
          <p:cNvPr id="544" name="Google Shape;544;p33"/>
          <p:cNvSpPr txBox="1"/>
          <p:nvPr/>
        </p:nvSpPr>
        <p:spPr>
          <a:xfrm>
            <a:off x="5486400" y="292608"/>
            <a:ext cx="62178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525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Metrics — </a:t>
            </a:r>
            <a:r>
              <a:rPr b="1" lang="en-US" sz="2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Mutation Score</a:t>
            </a:r>
            <a:endParaRPr b="1" i="0" sz="26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5" name="Google Shape;54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40780"/>
            <a:ext cx="11886879" cy="3569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550" name="Google Shape;5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4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552" name="Google Shape;552;p34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553" name="Google Shape;553;p34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Metrics correlations </a:t>
            </a:r>
            <a:endParaRPr/>
          </a:p>
        </p:txBody>
      </p:sp>
      <p:sp>
        <p:nvSpPr>
          <p:cNvPr id="554" name="Google Shape;554;p34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2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555" name="Google Shape;555;p34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7" name="Google Shape;557;p34"/>
          <p:cNvGrpSpPr/>
          <p:nvPr/>
        </p:nvGrpSpPr>
        <p:grpSpPr>
          <a:xfrm>
            <a:off x="457200" y="1190625"/>
            <a:ext cx="11277600" cy="2190900"/>
            <a:chOff x="457200" y="1190625"/>
            <a:chExt cx="11277600" cy="2190900"/>
          </a:xfrm>
        </p:grpSpPr>
        <p:sp>
          <p:nvSpPr>
            <p:cNvPr id="558" name="Google Shape;558;p34"/>
            <p:cNvSpPr/>
            <p:nvPr/>
          </p:nvSpPr>
          <p:spPr>
            <a:xfrm>
              <a:off x="457200" y="1190625"/>
              <a:ext cx="5486400" cy="2190900"/>
            </a:xfrm>
            <a:prstGeom prst="roundRect">
              <a:avLst>
                <a:gd fmla="val 521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4"/>
            <p:cNvSpPr txBox="1"/>
            <p:nvPr/>
          </p:nvSpPr>
          <p:spPr>
            <a:xfrm>
              <a:off x="647700" y="1381125"/>
              <a:ext cx="5105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Metric Definitions &amp; Methodology</a:t>
              </a:r>
              <a:endParaRPr b="1" sz="14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Line Coverage: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Fraction of executable lines hit.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Branch Coverage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: Fraction of control-flow branches traversed.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Line ≈ Branch: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Indicates linear code with few conditionals.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Line ≫ Branch: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Heavy conditionals with many missed edges.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Diversity Score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: Measures input/structural test variety.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45720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6248400" y="1190625"/>
              <a:ext cx="5486400" cy="2190900"/>
            </a:xfrm>
            <a:prstGeom prst="roundRect">
              <a:avLst>
                <a:gd fmla="val 5217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4"/>
            <p:cNvSpPr txBox="1"/>
            <p:nvPr/>
          </p:nvSpPr>
          <p:spPr>
            <a:xfrm>
              <a:off x="6438900" y="1381125"/>
              <a:ext cx="5105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369A1"/>
                  </a:solidFill>
                  <a:latin typeface="Cambria"/>
                  <a:ea typeface="Cambria"/>
                  <a:cs typeface="Cambria"/>
                  <a:sym typeface="Cambria"/>
                </a:rPr>
                <a:t>Key Observations &amp; Correlations</a:t>
              </a:r>
              <a:endParaRPr b="1" sz="1400">
                <a:solidFill>
                  <a:srgbClr val="0369A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Logic Gap:</a:t>
              </a:r>
              <a:r>
                <a:rPr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Coverage ≠ correctness; high coverage on buggy code is possible.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Coverage vs. Correctness (≈ 0.72)</a:t>
              </a:r>
              <a:endParaRPr b="1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Coverage vs. Diversity (≈ 0.65)</a:t>
              </a:r>
              <a:endParaRPr b="1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1100"/>
                <a:buFont typeface="Cambria"/>
                <a:buChar char="●"/>
              </a:pPr>
              <a:r>
                <a:rPr b="1" lang="en-US" sz="11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Coverage vs. Mutation (≈ 0.31)</a:t>
              </a:r>
              <a:endParaRPr b="1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45720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562" name="Google Shape;562;p34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3" name="Google Shape;563;p34"/>
          <p:cNvGrpSpPr/>
          <p:nvPr/>
        </p:nvGrpSpPr>
        <p:grpSpPr>
          <a:xfrm>
            <a:off x="457200" y="5619750"/>
            <a:ext cx="11277600" cy="571500"/>
            <a:chOff x="457200" y="5619750"/>
            <a:chExt cx="11277600" cy="571500"/>
          </a:xfrm>
        </p:grpSpPr>
        <p:sp>
          <p:nvSpPr>
            <p:cNvPr id="564" name="Google Shape;564;p34"/>
            <p:cNvSpPr/>
            <p:nvPr/>
          </p:nvSpPr>
          <p:spPr>
            <a:xfrm>
              <a:off x="457200" y="5619750"/>
              <a:ext cx="11277600" cy="571500"/>
            </a:xfrm>
            <a:prstGeom prst="roundRect">
              <a:avLst>
                <a:gd fmla="val 13333" name="adj"/>
              </a:avLst>
            </a:prstGeom>
            <a:solidFill>
              <a:srgbClr val="FFF1F2"/>
            </a:solidFill>
            <a:ln cap="flat" cmpd="sng" w="9525">
              <a:solidFill>
                <a:srgbClr val="FEC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4"/>
            <p:cNvSpPr txBox="1"/>
            <p:nvPr/>
          </p:nvSpPr>
          <p:spPr>
            <a:xfrm>
              <a:off x="647700" y="5619750"/>
              <a:ext cx="10896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F1239"/>
                  </a:solidFill>
                  <a:latin typeface="Cambria"/>
                  <a:ea typeface="Cambria"/>
                  <a:cs typeface="Cambria"/>
                  <a:sym typeface="Cambria"/>
                </a:rPr>
                <a:t>Takeaway: </a:t>
              </a:r>
              <a:r>
                <a:rPr b="0" lang="en-US" sz="1100">
                  <a:solidFill>
                    <a:srgbClr val="9F1239"/>
                  </a:solidFill>
                  <a:latin typeface="Cambria"/>
                  <a:ea typeface="Cambria"/>
                  <a:cs typeface="Cambria"/>
                  <a:sym typeface="Cambria"/>
                </a:rPr>
                <a:t>Coverage is necessary but not sufficient. It measures breadth, while mutation measures depth. Atomic Swarm can hit ~100% on buggy code via circular tests.</a:t>
              </a:r>
              <a:endParaRPr b="1" sz="1100">
                <a:solidFill>
                  <a:srgbClr val="9F1239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566" name="Google Shape;566;p34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pic>
        <p:nvPicPr>
          <p:cNvPr id="567" name="Google Shape;56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9475" y="3533925"/>
            <a:ext cx="2416781" cy="19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4831" y="3533925"/>
            <a:ext cx="2416781" cy="19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573" name="Google Shape;57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5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575" name="Google Shape;575;p35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576" name="Google Shape;576;p35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577" name="Google Shape;577;p35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5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5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5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581" name="Google Shape;581;p35"/>
          <p:cNvGrpSpPr/>
          <p:nvPr/>
        </p:nvGrpSpPr>
        <p:grpSpPr>
          <a:xfrm>
            <a:off x="381000" y="1333500"/>
            <a:ext cx="11430000" cy="4000500"/>
            <a:chOff x="381000" y="1333500"/>
            <a:chExt cx="11430000" cy="4000500"/>
          </a:xfrm>
        </p:grpSpPr>
        <p:sp>
          <p:nvSpPr>
            <p:cNvPr id="582" name="Google Shape;582;p35"/>
            <p:cNvSpPr/>
            <p:nvPr/>
          </p:nvSpPr>
          <p:spPr>
            <a:xfrm>
              <a:off x="381000" y="1333500"/>
              <a:ext cx="11430000" cy="40005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3" name="Google Shape;583;p35" title="fc_baseline_vs_best.png"/>
            <p:cNvPicPr preferRelativeResize="0"/>
            <p:nvPr/>
          </p:nvPicPr>
          <p:blipFill rotWithShape="1">
            <a:blip r:embed="rId5">
              <a:alphaModFix/>
            </a:blip>
            <a:srcRect b="0" l="2361" r="5046" t="8676"/>
            <a:stretch/>
          </p:blipFill>
          <p:spPr>
            <a:xfrm>
              <a:off x="747225" y="1798250"/>
              <a:ext cx="6879000" cy="339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84" name="Google Shape;584;p35"/>
            <p:cNvGrpSpPr/>
            <p:nvPr/>
          </p:nvGrpSpPr>
          <p:grpSpPr>
            <a:xfrm>
              <a:off x="8382000" y="1428750"/>
              <a:ext cx="3048000" cy="1714500"/>
              <a:chOff x="8382000" y="1428750"/>
              <a:chExt cx="3048000" cy="1714500"/>
            </a:xfrm>
          </p:grpSpPr>
          <p:sp>
            <p:nvSpPr>
              <p:cNvPr id="585" name="Google Shape;585;p35"/>
              <p:cNvSpPr/>
              <p:nvPr/>
            </p:nvSpPr>
            <p:spPr>
              <a:xfrm>
                <a:off x="8382000" y="1428750"/>
                <a:ext cx="30480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5"/>
              <p:cNvSpPr txBox="1"/>
              <p:nvPr/>
            </p:nvSpPr>
            <p:spPr>
              <a:xfrm>
                <a:off x="8524875" y="1571625"/>
                <a:ext cx="2762400" cy="1428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10">
                    <a:solidFill>
                      <a:srgbClr val="1E40A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Key Insights</a:t>
                </a:r>
                <a:endParaRPr b="1" i="0" sz="910">
                  <a:solidFill>
                    <a:srgbClr val="1E40AF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86385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E40AF"/>
                  </a:buClr>
                  <a:buSzPts val="910"/>
                  <a:buFont typeface="Cambria"/>
                  <a:buChar char="●"/>
                </a:pPr>
                <a:r>
                  <a:rPr b="0" i="0" lang="en-US" sz="735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Significant performance gains observed across all model sizes when switching from Baseline to Best Configuration.</a:t>
                </a:r>
                <a:endParaRPr b="1" i="0" sz="910">
                  <a:solidFill>
                    <a:srgbClr val="1E40AF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8638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40AF"/>
                  </a:buClr>
                  <a:buSzPts val="910"/>
                  <a:buFont typeface="Cambria"/>
                  <a:buChar char="●"/>
                </a:pPr>
                <a:r>
                  <a:rPr b="0" i="0" lang="en-US" sz="735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Smaller models benefit proportionally more from agent tuning, effectively narrowing the gap with larger models.</a:t>
                </a:r>
                <a:endParaRPr b="1" i="0" sz="910">
                  <a:solidFill>
                    <a:srgbClr val="1E40AF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-28638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40AF"/>
                  </a:buClr>
                  <a:buSzPts val="910"/>
                  <a:buFont typeface="Cambria"/>
                  <a:buChar char="●"/>
                </a:pPr>
                <a:r>
                  <a:rPr b="0" i="0" lang="en-US" sz="735">
                    <a:solidFill>
                      <a:srgbClr val="33415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Consistent outperformance of Zero-Shot configurations validates the impact of specialized agent architectures.</a:t>
                </a:r>
                <a:endParaRPr b="1" i="0" sz="910">
                  <a:solidFill>
                    <a:srgbClr val="1E40AF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</p:grpSp>
      <p:sp>
        <p:nvSpPr>
          <p:cNvPr id="587" name="Google Shape;587;p35"/>
          <p:cNvSpPr txBox="1"/>
          <p:nvPr/>
        </p:nvSpPr>
        <p:spPr>
          <a:xfrm>
            <a:off x="4114800" y="292608"/>
            <a:ext cx="7620000" cy="43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Baseline vs Best Configuration: </a:t>
            </a:r>
            <a:r>
              <a:rPr b="1" lang="en-US" sz="222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Pass Rate</a:t>
            </a:r>
            <a:endParaRPr b="1" i="0" sz="222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457200" y="5619750"/>
            <a:ext cx="11277600" cy="571500"/>
          </a:xfrm>
          <a:prstGeom prst="roundRect">
            <a:avLst>
              <a:gd fmla="val 13333" name="adj"/>
            </a:avLst>
          </a:prstGeom>
          <a:solidFill>
            <a:srgbClr val="FFF1F2"/>
          </a:solidFill>
          <a:ln cap="flat" cmpd="sng" w="9525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5"/>
          <p:cNvSpPr txBox="1"/>
          <p:nvPr/>
        </p:nvSpPr>
        <p:spPr>
          <a:xfrm>
            <a:off x="647700" y="5619750"/>
            <a:ext cx="10896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9F1239"/>
                </a:solidFill>
                <a:latin typeface="Cambria"/>
                <a:ea typeface="Cambria"/>
                <a:cs typeface="Cambria"/>
                <a:sym typeface="Cambria"/>
              </a:rPr>
              <a:t>Takeaway: </a:t>
            </a:r>
            <a:r>
              <a:rPr b="0" i="0" lang="en-US" sz="1100">
                <a:solidFill>
                  <a:srgbClr val="9F1239"/>
                </a:solidFill>
                <a:latin typeface="Cambria"/>
                <a:ea typeface="Cambria"/>
                <a:cs typeface="Cambria"/>
                <a:sym typeface="Cambria"/>
              </a:rPr>
              <a:t>Optimized agent architectures can bridge the generational gap, occasionally allowing smaller or older models to match the baseline performance of larger, next-generation counterparts.</a:t>
            </a:r>
            <a:endParaRPr b="1" i="0" sz="1100">
              <a:solidFill>
                <a:srgbClr val="9F123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594" name="Google Shape;59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6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596" name="Google Shape;596;p36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597" name="Google Shape;597;p36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Cross-Model Averages — Agent vs Prompt</a:t>
            </a:r>
            <a:endParaRPr/>
          </a:p>
        </p:txBody>
      </p:sp>
      <p:sp>
        <p:nvSpPr>
          <p:cNvPr id="598" name="Google Shape;598;p36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23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599" name="Google Shape;599;p36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6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1" name="Google Shape;601;p36"/>
          <p:cNvGrpSpPr/>
          <p:nvPr/>
        </p:nvGrpSpPr>
        <p:grpSpPr>
          <a:xfrm>
            <a:off x="571500" y="1190625"/>
            <a:ext cx="11049150" cy="5048175"/>
            <a:chOff x="571500" y="1190625"/>
            <a:chExt cx="11049150" cy="5048175"/>
          </a:xfrm>
        </p:grpSpPr>
        <p:sp>
          <p:nvSpPr>
            <p:cNvPr id="602" name="Google Shape;602;p36"/>
            <p:cNvSpPr/>
            <p:nvPr/>
          </p:nvSpPr>
          <p:spPr>
            <a:xfrm>
              <a:off x="571500" y="1190625"/>
              <a:ext cx="5429400" cy="3429000"/>
            </a:xfrm>
            <a:prstGeom prst="roundRect">
              <a:avLst>
                <a:gd fmla="val 2777" name="adj"/>
              </a:avLst>
            </a:prstGeom>
            <a:solidFill>
              <a:srgbClr val="002B5C">
                <a:alpha val="2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6191250" y="1190625"/>
              <a:ext cx="5429400" cy="3429000"/>
            </a:xfrm>
            <a:prstGeom prst="roundRect">
              <a:avLst>
                <a:gd fmla="val 2777" name="adj"/>
              </a:avLst>
            </a:prstGeom>
            <a:solidFill>
              <a:srgbClr val="002B5C">
                <a:alpha val="2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4" name="Google Shape;604;p36" title="avg_agent.png"/>
            <p:cNvPicPr preferRelativeResize="0"/>
            <p:nvPr/>
          </p:nvPicPr>
          <p:blipFill rotWithShape="1">
            <a:blip r:embed="rId4">
              <a:alphaModFix/>
            </a:blip>
            <a:srcRect b="0" l="308" r="318" t="0"/>
            <a:stretch/>
          </p:blipFill>
          <p:spPr>
            <a:xfrm>
              <a:off x="762000" y="1381125"/>
              <a:ext cx="5048400" cy="3048000"/>
            </a:xfrm>
            <a:prstGeom prst="roundRect">
              <a:avLst>
                <a:gd fmla="val 2500" name="adj"/>
              </a:avLst>
            </a:prstGeom>
            <a:noFill/>
            <a:ln>
              <a:noFill/>
            </a:ln>
          </p:spPr>
        </p:pic>
        <p:pic>
          <p:nvPicPr>
            <p:cNvPr id="605" name="Google Shape;605;p36" title="avg_prompt_style.png"/>
            <p:cNvPicPr preferRelativeResize="0"/>
            <p:nvPr/>
          </p:nvPicPr>
          <p:blipFill rotWithShape="1">
            <a:blip r:embed="rId5">
              <a:alphaModFix/>
            </a:blip>
            <a:srcRect b="0" l="308" r="318" t="0"/>
            <a:stretch/>
          </p:blipFill>
          <p:spPr>
            <a:xfrm>
              <a:off x="6381750" y="1381125"/>
              <a:ext cx="5048400" cy="3048000"/>
            </a:xfrm>
            <a:prstGeom prst="roundRect">
              <a:avLst>
                <a:gd fmla="val 2500" name="adj"/>
              </a:avLst>
            </a:prstGeom>
            <a:noFill/>
            <a:ln>
              <a:noFill/>
            </a:ln>
          </p:spPr>
        </p:pic>
        <p:grpSp>
          <p:nvGrpSpPr>
            <p:cNvPr id="606" name="Google Shape;606;p36"/>
            <p:cNvGrpSpPr/>
            <p:nvPr/>
          </p:nvGrpSpPr>
          <p:grpSpPr>
            <a:xfrm>
              <a:off x="571500" y="4762500"/>
              <a:ext cx="11049000" cy="1476300"/>
              <a:chOff x="571500" y="4762500"/>
              <a:chExt cx="11049000" cy="1476300"/>
            </a:xfrm>
          </p:grpSpPr>
          <p:sp>
            <p:nvSpPr>
              <p:cNvPr id="607" name="Google Shape;607;p36"/>
              <p:cNvSpPr/>
              <p:nvPr/>
            </p:nvSpPr>
            <p:spPr>
              <a:xfrm>
                <a:off x="571500" y="4762500"/>
                <a:ext cx="110490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8F9FA"/>
              </a:solidFill>
              <a:ln cap="flat" cmpd="sng" w="4775">
                <a:solidFill>
                  <a:srgbClr val="002B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6"/>
              <p:cNvSpPr txBox="1"/>
              <p:nvPr/>
            </p:nvSpPr>
            <p:spPr>
              <a:xfrm>
                <a:off x="809625" y="4762500"/>
                <a:ext cx="10572900" cy="14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2B5C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• Spread is wider on agent axis than on prompt axis:</a:t>
                </a:r>
                <a:r>
                  <a:rPr lang="en-US" sz="13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agent design has a greater impact than prompting alone, particularly regarding performance degradation.</a:t>
                </a:r>
                <a:endParaRPr sz="13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2B5C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• SCoT leads on average:</a:t>
                </a:r>
                <a:r>
                  <a:rPr lang="en-US" sz="1300">
                    <a:solidFill>
                      <a:srgbClr val="222222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While SCoT performs best, CoT shows significant degradation as it is optimized for general problem-solving rather than specific coding tasks.</a:t>
                </a:r>
                <a:endParaRPr sz="13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i="1" lang="en-US" sz="1100">
                    <a:solidFill>
                      <a:srgbClr val="666666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Note: Results represent averages across all models; individual performance varies significantly by model.</a:t>
                </a:r>
                <a:endParaRPr i="1" sz="11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</p:grpSp>
      <p:sp>
        <p:nvSpPr>
          <p:cNvPr id="609" name="Google Shape;609;p36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6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615" name="Google Shape;61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7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617" name="Google Shape;617;p37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618" name="Google Shape;618;p37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Discussion of Results</a:t>
            </a:r>
            <a:endParaRPr/>
          </a:p>
        </p:txBody>
      </p:sp>
      <p:sp>
        <p:nvSpPr>
          <p:cNvPr id="619" name="Google Shape;619;p37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24 —</a:t>
            </a:r>
            <a:endParaRPr/>
          </a:p>
        </p:txBody>
      </p:sp>
      <p:sp>
        <p:nvSpPr>
          <p:cNvPr id="620" name="Google Shape;620;p37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7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2" name="Google Shape;622;p37"/>
          <p:cNvGrpSpPr/>
          <p:nvPr/>
        </p:nvGrpSpPr>
        <p:grpSpPr>
          <a:xfrm>
            <a:off x="571500" y="1333500"/>
            <a:ext cx="11049000" cy="1143000"/>
            <a:chOff x="571500" y="1333500"/>
            <a:chExt cx="11049000" cy="1143000"/>
          </a:xfrm>
        </p:grpSpPr>
        <p:sp>
          <p:nvSpPr>
            <p:cNvPr id="623" name="Google Shape;623;p37"/>
            <p:cNvSpPr/>
            <p:nvPr/>
          </p:nvSpPr>
          <p:spPr>
            <a:xfrm>
              <a:off x="571500" y="1333500"/>
              <a:ext cx="11049000" cy="1143000"/>
            </a:xfrm>
            <a:prstGeom prst="roundRect">
              <a:avLst>
                <a:gd fmla="val 8333" name="adj"/>
              </a:avLst>
            </a:prstGeom>
            <a:solidFill>
              <a:srgbClr val="002B5C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7"/>
            <p:cNvSpPr txBox="1"/>
            <p:nvPr/>
          </p:nvSpPr>
          <p:spPr>
            <a:xfrm>
              <a:off x="762000" y="142875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Architecture Dominates the Prompt</a:t>
              </a:r>
              <a:endParaRPr b="1" i="0" sz="20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400" u="none" strike="noStrike">
                  <a:solidFill>
                    <a:srgbClr val="A88B4C"/>
                  </a:solidFill>
                  <a:latin typeface="Cambria"/>
                  <a:ea typeface="Cambria"/>
                  <a:cs typeface="Cambria"/>
                  <a:sym typeface="Cambria"/>
                </a:rPr>
                <a:t>Greater influence on results, but with higher structural risks</a:t>
              </a:r>
              <a:endParaRPr b="1" i="0" sz="14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625" name="Google Shape;625;p37"/>
          <p:cNvGrpSpPr/>
          <p:nvPr/>
        </p:nvGrpSpPr>
        <p:grpSpPr>
          <a:xfrm>
            <a:off x="571500" y="2667000"/>
            <a:ext cx="11049000" cy="1524000"/>
            <a:chOff x="571500" y="2667000"/>
            <a:chExt cx="11049000" cy="1524000"/>
          </a:xfrm>
        </p:grpSpPr>
        <p:sp>
          <p:nvSpPr>
            <p:cNvPr id="626" name="Google Shape;626;p37"/>
            <p:cNvSpPr/>
            <p:nvPr/>
          </p:nvSpPr>
          <p:spPr>
            <a:xfrm>
              <a:off x="571500" y="2667000"/>
              <a:ext cx="5334000" cy="1524000"/>
            </a:xfrm>
            <a:prstGeom prst="roundRect">
              <a:avLst>
                <a:gd fmla="val 5000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7"/>
            <p:cNvSpPr txBox="1"/>
            <p:nvPr/>
          </p:nvSpPr>
          <p:spPr>
            <a:xfrm>
              <a:off x="762000" y="2809875"/>
              <a:ext cx="4953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strike="noStrike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Results &amp; Evidences</a:t>
              </a:r>
              <a:endParaRPr b="1" i="0" sz="15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238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2B5C"/>
                </a:buClr>
                <a:buSzPts val="1500"/>
                <a:buFont typeface="Cambria"/>
                <a:buChar char="●"/>
              </a:pPr>
              <a:r>
                <a:rPr b="0" i="0" lang="en-US" sz="1200" u="none" strike="noStrike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Agent design outperforms model scale (e.g., 27B Judge vs. 12B)</a:t>
              </a:r>
              <a:endParaRPr b="1" i="0" sz="15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2B5C"/>
                </a:buClr>
                <a:buSzPts val="1500"/>
                <a:buFont typeface="Cambria"/>
                <a:buChar char="●"/>
              </a:pPr>
              <a:r>
                <a:rPr b="0" i="0" lang="en-US" sz="1200" u="none" strike="noStrike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Logical Gap: high 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r>
                <a:rPr b="0" i="0" lang="en-US" sz="1200" u="none" strike="noStrike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overage ≠ 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Pass Rate</a:t>
              </a:r>
              <a:endParaRPr b="1" i="0" sz="15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6286500" y="2667000"/>
              <a:ext cx="5334000" cy="1524000"/>
            </a:xfrm>
            <a:prstGeom prst="roundRect">
              <a:avLst>
                <a:gd fmla="val 5000" name="adj"/>
              </a:avLst>
            </a:prstGeom>
            <a:solidFill>
              <a:srgbClr val="F8F9FA"/>
            </a:solidFill>
            <a:ln cap="flat" cmpd="sng" w="9525">
              <a:solidFill>
                <a:srgbClr val="D32F2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7"/>
            <p:cNvSpPr txBox="1"/>
            <p:nvPr/>
          </p:nvSpPr>
          <p:spPr>
            <a:xfrm>
              <a:off x="6477000" y="2809875"/>
              <a:ext cx="4953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strike="noStrike">
                  <a:solidFill>
                    <a:srgbClr val="D32F2F"/>
                  </a:solidFill>
                  <a:latin typeface="Cambria"/>
                  <a:ea typeface="Cambria"/>
                  <a:cs typeface="Cambria"/>
                  <a:sym typeface="Cambria"/>
                </a:rPr>
                <a:t>Trade-offs &amp; Risks</a:t>
              </a:r>
              <a:endParaRPr b="1" i="0" sz="1500" u="none" strike="noStrike">
                <a:solidFill>
                  <a:srgbClr val="D32F2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238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D32F2F"/>
                </a:buClr>
                <a:buSzPts val="1500"/>
                <a:buFont typeface="Cambria"/>
                <a:buChar char="●"/>
              </a:pPr>
              <a:r>
                <a:rPr b="0" i="0" lang="en-US" sz="1200" u="none" strike="noStrike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Specialized architectures can fail on generic tasks (e.g., Swarm for text generation)</a:t>
              </a:r>
              <a:endParaRPr b="1" i="0" sz="1500" u="none" strike="noStrike">
                <a:solidFill>
                  <a:srgbClr val="D32F2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D32F2F"/>
                </a:buClr>
                <a:buSzPts val="1500"/>
                <a:buFont typeface="Cambria"/>
                <a:buChar char="●"/>
              </a:pPr>
              <a:r>
                <a:rPr b="0" i="0" lang="en-US" sz="1200" u="none" strike="noStrike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Instability: thermal variance and seed impact the determination of results</a:t>
              </a:r>
              <a:endParaRPr b="1" i="0" sz="1500" u="none" strike="noStrike">
                <a:solidFill>
                  <a:srgbClr val="D32F2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630" name="Google Shape;630;p37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1" name="Google Shape;631;p37"/>
          <p:cNvGrpSpPr/>
          <p:nvPr/>
        </p:nvGrpSpPr>
        <p:grpSpPr>
          <a:xfrm>
            <a:off x="566750" y="4376800"/>
            <a:ext cx="11049000" cy="1348200"/>
            <a:chOff x="566737" y="4376741"/>
            <a:chExt cx="11049000" cy="1348200"/>
          </a:xfrm>
        </p:grpSpPr>
        <p:pic>
          <p:nvPicPr>
            <p:cNvPr id="632" name="Google Shape;632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737" y="4376741"/>
              <a:ext cx="11049000" cy="134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37"/>
            <p:cNvSpPr txBox="1"/>
            <p:nvPr/>
          </p:nvSpPr>
          <p:spPr>
            <a:xfrm>
              <a:off x="952500" y="4524375"/>
              <a:ext cx="102870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strike="noStrike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No Free Lunch Theorem: No configuration is universal</a:t>
              </a:r>
              <a:endParaRPr b="1" i="0" sz="16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0" i="0" lang="en-US" sz="1200" u="none" strike="noStrike">
                  <a:solidFill>
                    <a:srgbClr val="444444"/>
                  </a:solidFill>
                  <a:latin typeface="Cambria"/>
                  <a:ea typeface="Cambria"/>
                  <a:cs typeface="Cambria"/>
                  <a:sym typeface="Cambria"/>
                </a:rPr>
                <a:t>Excellent architectures in specific contexts (e.g., Swarm for long-context) may be sub-optimal in others. There is no "silver bullet" for LLM-assisted software engineering; the choice strictly depends on the nature of the task and cost/performance constraints.</a:t>
              </a:r>
              <a:endParaRPr b="1" i="0" sz="1200" u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634" name="Google Shape;634;p37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639" name="Google Shape;63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38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641" name="Google Shape;641;p38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642" name="Google Shape;642;p38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25 —</a:t>
            </a:r>
            <a:endParaRPr/>
          </a:p>
        </p:txBody>
      </p:sp>
      <p:sp>
        <p:nvSpPr>
          <p:cNvPr id="643" name="Google Shape;643;p38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8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8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8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647" name="Google Shape;647;p38"/>
          <p:cNvGrpSpPr/>
          <p:nvPr/>
        </p:nvGrpSpPr>
        <p:grpSpPr>
          <a:xfrm>
            <a:off x="571500" y="1333500"/>
            <a:ext cx="11049000" cy="3238500"/>
            <a:chOff x="571500" y="1333500"/>
            <a:chExt cx="11049000" cy="3238500"/>
          </a:xfrm>
        </p:grpSpPr>
        <p:sp>
          <p:nvSpPr>
            <p:cNvPr id="648" name="Google Shape;648;p38"/>
            <p:cNvSpPr/>
            <p:nvPr/>
          </p:nvSpPr>
          <p:spPr>
            <a:xfrm>
              <a:off x="571500" y="1333500"/>
              <a:ext cx="5334000" cy="3238500"/>
            </a:xfrm>
            <a:prstGeom prst="roundRect">
              <a:avLst>
                <a:gd fmla="val 2941" name="adj"/>
              </a:avLst>
            </a:prstGeom>
            <a:solidFill>
              <a:srgbClr val="002B5C">
                <a:alpha val="2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8"/>
            <p:cNvSpPr txBox="1"/>
            <p:nvPr/>
          </p:nvSpPr>
          <p:spPr>
            <a:xfrm>
              <a:off x="762000" y="1524000"/>
              <a:ext cx="4953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The Role of the Parser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44444"/>
                  </a:solidFill>
                  <a:latin typeface="Cambria"/>
                  <a:ea typeface="Cambria"/>
                  <a:cs typeface="Cambria"/>
                  <a:sym typeface="Cambria"/>
                </a:rPr>
                <a:t>The parser analyzes code generated by Large Language Models to extract logical structure and verify formal correctness before test execution.</a:t>
              </a:r>
              <a:endParaRPr b="0" sz="1200">
                <a:solidFill>
                  <a:srgbClr val="444444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Why Regex-Based Extraction? </a:t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22222"/>
                </a:buClr>
                <a:buSzPts val="900"/>
                <a:buFont typeface="Cambria"/>
                <a:buChar char="●"/>
              </a:pPr>
              <a:r>
                <a:rPr b="1"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Markdown Sanitization:</a:t>
              </a:r>
              <a:r>
                <a:rPr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It targets and extracts code within triple backtick blocks (```python), handling cases where the language tag is missing through non-greedy matching.</a:t>
              </a:r>
              <a:endParaRPr sz="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900"/>
                <a:buFont typeface="Cambria"/>
                <a:buChar char="●"/>
              </a:pPr>
              <a:r>
                <a:rPr b="1"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Conversational Filtering:</a:t>
              </a:r>
              <a:r>
                <a:rPr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Automatically detects and removes common LLM introductory phrases (e.g., "Here is the code:", "This script...") that would otherwise trigger syntax errors.</a:t>
              </a:r>
              <a:endParaRPr sz="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900"/>
                <a:buFont typeface="Cambria"/>
                <a:buChar char="●"/>
              </a:pPr>
              <a:r>
                <a:rPr b="1"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Import Normalization:</a:t>
              </a:r>
              <a:r>
                <a:rPr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Specifically identifies and strips hallucinated placeholder modules like </a:t>
              </a:r>
              <a:r>
                <a:rPr lang="en-US" sz="900">
                  <a:solidFill>
                    <a:srgbClr val="188038"/>
                  </a:solidFill>
                  <a:latin typeface="Cambria"/>
                  <a:ea typeface="Cambria"/>
                  <a:cs typeface="Cambria"/>
                  <a:sym typeface="Cambria"/>
                </a:rPr>
                <a:t>your_module</a:t>
              </a:r>
              <a:r>
                <a:rPr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or </a:t>
              </a:r>
              <a:r>
                <a:rPr lang="en-US" sz="900">
                  <a:solidFill>
                    <a:srgbClr val="188038"/>
                  </a:solidFill>
                  <a:latin typeface="Cambria"/>
                  <a:ea typeface="Cambria"/>
                  <a:cs typeface="Cambria"/>
                  <a:sym typeface="Cambria"/>
                </a:rPr>
                <a:t>solution_module</a:t>
              </a:r>
              <a:r>
                <a:rPr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often generated during unit test creation.</a:t>
              </a:r>
              <a:endParaRPr sz="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22222"/>
                </a:buClr>
                <a:buSzPts val="900"/>
                <a:buFont typeface="Cambria"/>
                <a:buChar char="●"/>
              </a:pPr>
              <a:r>
                <a:rPr b="1"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Robust Fallback logic:</a:t>
              </a:r>
              <a:r>
                <a:rPr lang="en-US" sz="90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If no Markdown blocks are detected, the parser treats the entire output as raw code, applying line-by-line cleaning to ensure structural integrity.</a:t>
              </a:r>
              <a:endParaRPr sz="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45720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t/>
              </a:r>
              <a:endParaRPr sz="11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6286500" y="1333500"/>
              <a:ext cx="5334000" cy="3238500"/>
            </a:xfrm>
            <a:prstGeom prst="roundRect">
              <a:avLst>
                <a:gd fmla="val 2941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6286500" y="1333500"/>
              <a:ext cx="5334000" cy="381000"/>
            </a:xfrm>
            <a:prstGeom prst="roundRect">
              <a:avLst>
                <a:gd fmla="val 25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8"/>
            <p:cNvSpPr/>
            <p:nvPr/>
          </p:nvSpPr>
          <p:spPr>
            <a:xfrm>
              <a:off x="6467475" y="14668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6657975" y="14668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6848475" y="14668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8"/>
            <p:cNvSpPr txBox="1"/>
            <p:nvPr/>
          </p:nvSpPr>
          <p:spPr>
            <a:xfrm>
              <a:off x="6477000" y="1809750"/>
              <a:ext cx="4953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Robust extraction and cleaning</a:t>
              </a:r>
              <a:endParaRPr sz="85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re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569C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85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extract_code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(text: </a:t>
              </a:r>
              <a:r>
                <a:rPr lang="en-US" sz="85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-&gt; </a:t>
              </a:r>
              <a:r>
                <a:rPr lang="en-US" sz="85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"""Extract code from LLM Markdown blocks."""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match = re.search(</a:t>
              </a:r>
              <a:r>
                <a:rPr lang="en-US" sz="8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r"```(?:python)?\n?(.*?)```"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text, re.DOTALL)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match: code = match.group(</a:t>
              </a:r>
              <a:r>
                <a:rPr lang="en-US" sz="85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).strip()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code = text.strip()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lines = code.splitlines()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filtered = [l </a:t>
              </a: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l </a:t>
              </a: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lines </a:t>
              </a: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 not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l.lower().startswith(</a:t>
              </a:r>
              <a:r>
                <a:rPr lang="en-US" sz="8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"here is"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)]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8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"\n"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.join(filtered).strip()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569C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85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clean_test_code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(code: </a:t>
              </a:r>
              <a:r>
                <a:rPr lang="en-US" sz="85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-&gt; </a:t>
              </a:r>
              <a:r>
                <a:rPr lang="en-US" sz="85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"""Removes placeholder imports from sandbox code."""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pat = </a:t>
              </a:r>
              <a:r>
                <a:rPr lang="en-US" sz="8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r"from\s+(your_module|test_module)\s+import"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re.sub(pat, </a:t>
              </a:r>
              <a:r>
                <a:rPr lang="en-US" sz="85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""</a:t>
              </a:r>
              <a:r>
                <a:rPr lang="en-US" sz="85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code)</a:t>
              </a:r>
              <a:endParaRPr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56" name="Google Shape;656;p38"/>
          <p:cNvGrpSpPr/>
          <p:nvPr/>
        </p:nvGrpSpPr>
        <p:grpSpPr>
          <a:xfrm>
            <a:off x="571500" y="4953000"/>
            <a:ext cx="11049000" cy="952500"/>
            <a:chOff x="571500" y="4953000"/>
            <a:chExt cx="11049000" cy="952500"/>
          </a:xfrm>
        </p:grpSpPr>
        <p:sp>
          <p:nvSpPr>
            <p:cNvPr id="657" name="Google Shape;657;p38"/>
            <p:cNvSpPr/>
            <p:nvPr/>
          </p:nvSpPr>
          <p:spPr>
            <a:xfrm>
              <a:off x="571500" y="4953000"/>
              <a:ext cx="110490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8"/>
            <p:cNvSpPr txBox="1"/>
            <p:nvPr/>
          </p:nvSpPr>
          <p:spPr>
            <a:xfrm>
              <a:off x="762000" y="504825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Security &amp; Efficiency:</a:t>
              </a:r>
              <a:r>
                <a:rPr b="0" lang="en-US" sz="13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 By parsing the code first, we avoid executing malicious or broken scripts in our testing environment. </a:t>
              </a:r>
              <a:endParaRPr b="0" sz="13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659" name="Google Shape;659;p38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Parser </a:t>
            </a:r>
            <a:endParaRPr b="1" i="0" sz="2200">
              <a:solidFill>
                <a:srgbClr val="002B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664" name="Google Shape;6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39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666" name="Google Shape;666;p39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667" name="Google Shape;667;p39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/>
          </a:p>
        </p:txBody>
      </p:sp>
      <p:sp>
        <p:nvSpPr>
          <p:cNvPr id="668" name="Google Shape;668;p39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26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669" name="Google Shape;669;p39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9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  <p:grpSp>
        <p:nvGrpSpPr>
          <p:cNvPr id="673" name="Google Shape;673;p39"/>
          <p:cNvGrpSpPr/>
          <p:nvPr/>
        </p:nvGrpSpPr>
        <p:grpSpPr>
          <a:xfrm>
            <a:off x="571500" y="1333500"/>
            <a:ext cx="11049150" cy="2190900"/>
            <a:chOff x="571500" y="1333500"/>
            <a:chExt cx="11049150" cy="2190900"/>
          </a:xfrm>
        </p:grpSpPr>
        <p:sp>
          <p:nvSpPr>
            <p:cNvPr id="674" name="Google Shape;674;p39"/>
            <p:cNvSpPr/>
            <p:nvPr/>
          </p:nvSpPr>
          <p:spPr>
            <a:xfrm>
              <a:off x="571500" y="1333500"/>
              <a:ext cx="5429400" cy="2190900"/>
            </a:xfrm>
            <a:prstGeom prst="roundRect">
              <a:avLst>
                <a:gd fmla="val 4347" name="adj"/>
              </a:avLst>
            </a:prstGeom>
            <a:solidFill>
              <a:srgbClr val="002B5C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9"/>
            <p:cNvSpPr txBox="1"/>
            <p:nvPr/>
          </p:nvSpPr>
          <p:spPr>
            <a:xfrm>
              <a:off x="762000" y="1524000"/>
              <a:ext cx="50484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Key Takeaways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222222"/>
                </a:buClr>
                <a:buSzPts val="1200"/>
                <a:buFont typeface="Cambria"/>
                <a:buChar char="●"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Agentic Architecture: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Greater potential for improvement, but also higher risk of degradation compared to standard prompting.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22222"/>
                </a:buClr>
                <a:buSzPts val="1200"/>
                <a:buFont typeface="Cambria"/>
                <a:buChar char="●"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Model Size: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Remains an extremely critical factor in overall performance.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22222"/>
                </a:buClr>
                <a:buSzPts val="1200"/>
                <a:buFont typeface="Cambria"/>
                <a:buChar char="●"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Deterministic Phase: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A Python-based parser is essential for reliable results.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6191250" y="1333500"/>
              <a:ext cx="5429400" cy="2190900"/>
            </a:xfrm>
            <a:prstGeom prst="roundRect">
              <a:avLst>
                <a:gd fmla="val 4347" name="adj"/>
              </a:avLst>
            </a:prstGeom>
            <a:solidFill>
              <a:srgbClr val="002B5C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9"/>
            <p:cNvSpPr txBox="1"/>
            <p:nvPr/>
          </p:nvSpPr>
          <p:spPr>
            <a:xfrm>
              <a:off x="6381750" y="1524000"/>
              <a:ext cx="50484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Project Scope &amp; Reliability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222222"/>
                </a:buClr>
                <a:buSzPts val="1200"/>
                <a:buFont typeface="Cambria"/>
                <a:buChar char="●"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Limitations: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25 tasks, 5 model sizes, within the HumanEval scope.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22222"/>
                </a:buClr>
                <a:buSzPts val="1200"/>
                <a:buFont typeface="Cambria"/>
                <a:buChar char="●"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Reproducibility: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All configs, seeds, and prompts are versioned in Git.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22222"/>
                </a:buClr>
                <a:buSzPts val="1200"/>
                <a:buFont typeface="Cambria"/>
                <a:buChar char="●"/>
              </a:pPr>
              <a:r>
                <a:rPr b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Acknowledgment:</a:t>
              </a: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 Special thanks to the supervisor and the entire project team.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678" name="Google Shape;678;p39"/>
          <p:cNvGrpSpPr/>
          <p:nvPr/>
        </p:nvGrpSpPr>
        <p:grpSpPr>
          <a:xfrm>
            <a:off x="571500" y="3714750"/>
            <a:ext cx="11049000" cy="952500"/>
            <a:chOff x="571500" y="3714750"/>
            <a:chExt cx="11049000" cy="952500"/>
          </a:xfrm>
        </p:grpSpPr>
        <p:sp>
          <p:nvSpPr>
            <p:cNvPr id="679" name="Google Shape;679;p39"/>
            <p:cNvSpPr/>
            <p:nvPr/>
          </p:nvSpPr>
          <p:spPr>
            <a:xfrm>
              <a:off x="571500" y="3714750"/>
              <a:ext cx="11049000" cy="952500"/>
            </a:xfrm>
            <a:prstGeom prst="roundRect">
              <a:avLst>
                <a:gd fmla="val 10000" name="adj"/>
              </a:avLst>
            </a:prstGeom>
            <a:solidFill>
              <a:srgbClr val="A88B4C">
                <a:alpha val="10000"/>
              </a:srgbClr>
            </a:solidFill>
            <a:ln cap="flat" cmpd="sng" w="9525">
              <a:solidFill>
                <a:srgbClr val="A88B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9"/>
            <p:cNvSpPr txBox="1"/>
            <p:nvPr/>
          </p:nvSpPr>
          <p:spPr>
            <a:xfrm>
              <a:off x="762000" y="381000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"Agent design has a greater impact than prompting alone, but requires robust validation."</a:t>
              </a:r>
              <a:endParaRPr b="1" i="1" sz="18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685" name="Google Shape;6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701906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0"/>
          <p:cNvSpPr txBox="1"/>
          <p:nvPr/>
        </p:nvSpPr>
        <p:spPr>
          <a:xfrm>
            <a:off x="1097280" y="292608"/>
            <a:ext cx="411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POLITECNICO  DI  TORINO</a:t>
            </a:r>
            <a:endParaRPr/>
          </a:p>
        </p:txBody>
      </p:sp>
      <p:sp>
        <p:nvSpPr>
          <p:cNvPr id="687" name="Google Shape;687;p40"/>
          <p:cNvSpPr txBox="1"/>
          <p:nvPr/>
        </p:nvSpPr>
        <p:spPr>
          <a:xfrm>
            <a:off x="1097280" y="566928"/>
            <a:ext cx="502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Group Project</a:t>
            </a:r>
            <a:endParaRPr/>
          </a:p>
        </p:txBody>
      </p:sp>
      <p:sp>
        <p:nvSpPr>
          <p:cNvPr id="688" name="Google Shape;688;p40"/>
          <p:cNvSpPr txBox="1"/>
          <p:nvPr/>
        </p:nvSpPr>
        <p:spPr>
          <a:xfrm>
            <a:off x="5486400" y="292608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rPr>
              <a:t>Future Work — RLM</a:t>
            </a:r>
            <a:endParaRPr/>
          </a:p>
        </p:txBody>
      </p:sp>
      <p:sp>
        <p:nvSpPr>
          <p:cNvPr id="689" name="Google Shape;689;p40"/>
          <p:cNvSpPr txBox="1"/>
          <p:nvPr/>
        </p:nvSpPr>
        <p:spPr>
          <a:xfrm>
            <a:off x="10789920" y="640080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r>
              <a:rPr b="0" i="1" lang="en-US" sz="1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 —</a:t>
            </a:r>
            <a:endParaRPr/>
          </a:p>
        </p:txBody>
      </p:sp>
      <p:sp>
        <p:nvSpPr>
          <p:cNvPr id="690" name="Google Shape;690;p40"/>
          <p:cNvSpPr/>
          <p:nvPr/>
        </p:nvSpPr>
        <p:spPr>
          <a:xfrm>
            <a:off x="365760" y="960120"/>
            <a:ext cx="114300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0"/>
          <p:cNvSpPr/>
          <p:nvPr/>
        </p:nvSpPr>
        <p:spPr>
          <a:xfrm>
            <a:off x="365760" y="982980"/>
            <a:ext cx="11430000" cy="54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2" name="Google Shape;692;p40"/>
          <p:cNvGrpSpPr/>
          <p:nvPr/>
        </p:nvGrpSpPr>
        <p:grpSpPr>
          <a:xfrm>
            <a:off x="762000" y="1333500"/>
            <a:ext cx="10668000" cy="2286000"/>
            <a:chOff x="762000" y="1333500"/>
            <a:chExt cx="10668000" cy="2286000"/>
          </a:xfrm>
        </p:grpSpPr>
        <p:sp>
          <p:nvSpPr>
            <p:cNvPr id="693" name="Google Shape;693;p40"/>
            <p:cNvSpPr/>
            <p:nvPr/>
          </p:nvSpPr>
          <p:spPr>
            <a:xfrm>
              <a:off x="762000" y="1333500"/>
              <a:ext cx="3429000" cy="2286000"/>
            </a:xfrm>
            <a:prstGeom prst="roundRect">
              <a:avLst>
                <a:gd fmla="val 4166" name="adj"/>
              </a:avLst>
            </a:prstGeom>
            <a:solidFill>
              <a:srgbClr val="002B5C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0"/>
            <p:cNvSpPr txBox="1"/>
            <p:nvPr/>
          </p:nvSpPr>
          <p:spPr>
            <a:xfrm>
              <a:off x="952500" y="1524000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2026: Status Quo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In 2026, we used models up to 31B parameters.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Experimental efficiency was high, with total API costs kept under 4 euros.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4381500" y="1333500"/>
              <a:ext cx="3429000" cy="2286000"/>
            </a:xfrm>
            <a:prstGeom prst="roundRect">
              <a:avLst>
                <a:gd fmla="val 4166" name="adj"/>
              </a:avLst>
            </a:prstGeom>
            <a:solidFill>
              <a:srgbClr val="002B5C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0"/>
            <p:cNvSpPr txBox="1"/>
            <p:nvPr/>
          </p:nvSpPr>
          <p:spPr>
            <a:xfrm>
              <a:off x="4572000" y="1524000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2027: Projections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Expectation for slightly larger but significantly more efficient model families.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Anticipated improvements in agentic task benchmarks.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8001000" y="1333500"/>
              <a:ext cx="3429000" cy="2286000"/>
            </a:xfrm>
            <a:prstGeom prst="roundRect">
              <a:avLst>
                <a:gd fmla="val 4166" name="adj"/>
              </a:avLst>
            </a:prstGeom>
            <a:solidFill>
              <a:srgbClr val="A88B4C">
                <a:alpha val="10000"/>
              </a:srgbClr>
            </a:solidFill>
            <a:ln cap="flat" cmpd="sng" w="9525">
              <a:solidFill>
                <a:srgbClr val="A88B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0"/>
            <p:cNvSpPr txBox="1"/>
            <p:nvPr/>
          </p:nvSpPr>
          <p:spPr>
            <a:xfrm>
              <a:off x="8191500" y="1524000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Vision: RLM</a:t>
              </a:r>
              <a:endParaRPr b="1" sz="16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Application of Recursive Language Models (RLM) to tackle the Long Context barrier.</a:t>
              </a:r>
              <a:endParaRPr sz="1200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Overcoming the primary bottleneck of this project.</a:t>
              </a:r>
              <a:endParaRPr b="1" i="1" sz="12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699" name="Google Shape;699;p40"/>
          <p:cNvGrpSpPr/>
          <p:nvPr/>
        </p:nvGrpSpPr>
        <p:grpSpPr>
          <a:xfrm>
            <a:off x="762000" y="4000500"/>
            <a:ext cx="10668000" cy="1143000"/>
            <a:chOff x="762000" y="4000500"/>
            <a:chExt cx="10668000" cy="1143000"/>
          </a:xfrm>
        </p:grpSpPr>
        <p:sp>
          <p:nvSpPr>
            <p:cNvPr id="700" name="Google Shape;700;p40"/>
            <p:cNvSpPr/>
            <p:nvPr/>
          </p:nvSpPr>
          <p:spPr>
            <a:xfrm>
              <a:off x="762000" y="4000500"/>
              <a:ext cx="10668000" cy="11430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 cap="flat" cmpd="sng" w="9525">
              <a:solidFill>
                <a:srgbClr val="002B5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0"/>
            <p:cNvSpPr txBox="1"/>
            <p:nvPr/>
          </p:nvSpPr>
          <p:spPr>
            <a:xfrm>
              <a:off x="1143000" y="4191000"/>
              <a:ext cx="990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B5C"/>
                  </a:solidFill>
                  <a:latin typeface="Cambria"/>
                  <a:ea typeface="Cambria"/>
                  <a:cs typeface="Cambria"/>
                  <a:sym typeface="Cambria"/>
                </a:rPr>
                <a:t>Key Objective: Solving the "Long Context" Challenge</a:t>
              </a:r>
              <a:endParaRPr b="1" sz="1800">
                <a:solidFill>
                  <a:srgbClr val="002B5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66666"/>
                  </a:solidFill>
                  <a:latin typeface="Cambria"/>
                  <a:ea typeface="Cambria"/>
                  <a:cs typeface="Cambria"/>
                  <a:sym typeface="Cambria"/>
                </a:rPr>
                <a:t>Enabling more complex software engineering workflows through RLM architectures.</a:t>
              </a:r>
              <a:endParaRPr sz="12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702" name="Google Shape;702;p40"/>
          <p:cNvSpPr/>
          <p:nvPr/>
        </p:nvSpPr>
        <p:spPr>
          <a:xfrm>
            <a:off x="365760" y="6400800"/>
            <a:ext cx="11430000" cy="72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0"/>
          <p:cNvSpPr txBox="1"/>
          <p:nvPr/>
        </p:nvSpPr>
        <p:spPr>
          <a:xfrm>
            <a:off x="457200" y="6492240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Politecnico di Torino  ·  Large Language Models for Software Engineering  ·  2025 / 2026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lito_logo.png" id="708" name="Google Shape;70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2887" y="411480"/>
            <a:ext cx="180490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1"/>
          <p:cNvSpPr txBox="1"/>
          <p:nvPr/>
        </p:nvSpPr>
        <p:spPr>
          <a:xfrm>
            <a:off x="457200" y="2240280"/>
            <a:ext cx="11247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3366"/>
                </a:solidFill>
                <a:latin typeface="Cambria"/>
                <a:ea typeface="Cambria"/>
                <a:cs typeface="Cambria"/>
                <a:sym typeface="Cambria"/>
              </a:rPr>
              <a:t>POLITECNICO DI TORINO</a:t>
            </a:r>
            <a:endParaRPr b="1" sz="1400">
              <a:solidFill>
                <a:srgbClr val="0033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0" name="Google Shape;710;p41"/>
          <p:cNvSpPr txBox="1"/>
          <p:nvPr/>
        </p:nvSpPr>
        <p:spPr>
          <a:xfrm>
            <a:off x="457200" y="2606040"/>
            <a:ext cx="1124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Large Language Models for Software Engineering  ·  Academic Year 2025 / 2026</a:t>
            </a:r>
            <a:endParaRPr/>
          </a:p>
        </p:txBody>
      </p:sp>
      <p:sp>
        <p:nvSpPr>
          <p:cNvPr id="711" name="Google Shape;711;p41"/>
          <p:cNvSpPr/>
          <p:nvPr/>
        </p:nvSpPr>
        <p:spPr>
          <a:xfrm>
            <a:off x="4114800" y="3154680"/>
            <a:ext cx="3931800" cy="16500"/>
          </a:xfrm>
          <a:prstGeom prst="rect">
            <a:avLst/>
          </a:prstGeom>
          <a:solidFill>
            <a:srgbClr val="A88B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1"/>
          <p:cNvSpPr txBox="1"/>
          <p:nvPr/>
        </p:nvSpPr>
        <p:spPr>
          <a:xfrm>
            <a:off x="548640" y="3383280"/>
            <a:ext cx="11064300" cy="668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40">
                <a:solidFill>
                  <a:srgbClr val="003366"/>
                </a:solidFill>
                <a:latin typeface="Cambria"/>
                <a:ea typeface="Cambria"/>
                <a:cs typeface="Cambria"/>
                <a:sym typeface="Cambria"/>
              </a:rPr>
              <a:t>Thank you for your attention</a:t>
            </a:r>
            <a:endParaRPr b="1" sz="3740">
              <a:solidFill>
                <a:srgbClr val="0033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3" name="Google Shape;713;p41"/>
          <p:cNvSpPr/>
          <p:nvPr/>
        </p:nvSpPr>
        <p:spPr>
          <a:xfrm>
            <a:off x="0" y="6720840"/>
            <a:ext cx="12191700" cy="11100"/>
          </a:xfrm>
          <a:prstGeom prst="rect">
            <a:avLst/>
          </a:prstGeom>
          <a:solidFill>
            <a:srgbClr val="002B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